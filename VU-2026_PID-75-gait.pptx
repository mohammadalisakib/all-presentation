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75" r:id="rId3"/>
    <p:sldId id="258" r:id="rId4"/>
    <p:sldId id="259" r:id="rId5"/>
    <p:sldId id="268" r:id="rId6"/>
    <p:sldId id="260" r:id="rId7"/>
    <p:sldId id="267" r:id="rId8"/>
    <p:sldId id="269" r:id="rId9"/>
    <p:sldId id="271" r:id="rId10"/>
    <p:sldId id="270" r:id="rId11"/>
    <p:sldId id="272" r:id="rId12"/>
    <p:sldId id="273" r:id="rId13"/>
    <p:sldId id="274" r:id="rId14"/>
    <p:sldId id="264" r:id="rId15"/>
    <p:sldId id="265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ITC Edwardian Script" panose="020B0604020202020204" charset="0"/>
      <p:regular r:id="rId22"/>
    </p:embeddedFont>
    <p:embeddedFont>
      <p:font typeface="Times New Roman Bold" panose="02020803070505020304" pitchFamily="18" charset="0"/>
      <p:bold r:id="rId23"/>
    </p:embeddedFont>
    <p:embeddedFont>
      <p:font typeface="Roboto Condensed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1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43019-CDCE-4791-9A73-2DF729D6849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8BCFA-9760-4AD4-923B-7173336A0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7161202"/>
            <a:ext cx="18218013" cy="3163898"/>
            <a:chOff x="0" y="0"/>
            <a:chExt cx="812800" cy="1411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1158"/>
            </a:xfrm>
            <a:custGeom>
              <a:avLst/>
              <a:gdLst/>
              <a:ahLst/>
              <a:cxnLst/>
              <a:rect l="l" t="t" r="r" b="b"/>
              <a:pathLst>
                <a:path w="812800" h="141158">
                  <a:moveTo>
                    <a:pt x="812800" y="0"/>
                  </a:moveTo>
                  <a:lnTo>
                    <a:pt x="0" y="0"/>
                  </a:lnTo>
                  <a:lnTo>
                    <a:pt x="101600" y="70579"/>
                  </a:lnTo>
                  <a:lnTo>
                    <a:pt x="0" y="141158"/>
                  </a:lnTo>
                  <a:lnTo>
                    <a:pt x="812800" y="141158"/>
                  </a:lnTo>
                  <a:lnTo>
                    <a:pt x="711200" y="70579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4F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88900" y="-47625"/>
              <a:ext cx="635000" cy="188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7250764"/>
            <a:ext cx="1891731" cy="2104847"/>
          </a:xfrm>
          <a:custGeom>
            <a:avLst/>
            <a:gdLst/>
            <a:ahLst/>
            <a:cxnLst/>
            <a:rect l="l" t="t" r="r" b="b"/>
            <a:pathLst>
              <a:path w="1891731" h="2104847">
                <a:moveTo>
                  <a:pt x="0" y="0"/>
                </a:moveTo>
                <a:lnTo>
                  <a:pt x="1891731" y="0"/>
                </a:lnTo>
                <a:lnTo>
                  <a:pt x="1891731" y="2104847"/>
                </a:lnTo>
                <a:lnTo>
                  <a:pt x="0" y="210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17954" y="2573071"/>
            <a:ext cx="15852091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95" dirty="0" smtClean="0">
                <a:solidFill>
                  <a:srgbClr val="00B0F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2nd </a:t>
            </a:r>
            <a:r>
              <a:rPr lang="en-US" sz="4000" b="1" dirty="0">
                <a:solidFill>
                  <a:srgbClr val="00B0F0"/>
                </a:solidFill>
              </a:rPr>
              <a:t>Undergraduate Conference on Intelligent Computing and Systems (UCICS 2026)</a:t>
            </a:r>
          </a:p>
          <a:p>
            <a:pPr algn="ctr">
              <a:lnSpc>
                <a:spcPts val="5599"/>
              </a:lnSpc>
            </a:pPr>
            <a:endParaRPr lang="en-US" sz="3999" b="1" spc="95" dirty="0" smtClean="0">
              <a:solidFill>
                <a:srgbClr val="00629B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b="1" spc="95" dirty="0">
              <a:solidFill>
                <a:srgbClr val="00629B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95800" y="4136846"/>
            <a:ext cx="917912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47" dirty="0" smtClean="0">
                <a:solidFill>
                  <a:srgbClr val="000000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rPr>
              <a:t>HOSTED BY: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Varendra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University, Rajshahi, Bangladesh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799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17-18 January, 2026</a:t>
            </a:r>
          </a:p>
          <a:p>
            <a:pPr algn="ctr">
              <a:lnSpc>
                <a:spcPts val="2799"/>
              </a:lnSpc>
            </a:pPr>
            <a:endParaRPr lang="en-US" sz="1999" b="1" spc="47" dirty="0" smtClean="0">
              <a:solidFill>
                <a:srgbClr val="000000"/>
              </a:solidFill>
              <a:latin typeface="Times New Roman" panose="02020603050405020304" pitchFamily="18" charset="0"/>
              <a:ea typeface="Roboto Condensed Bold"/>
              <a:cs typeface="Times New Roman" panose="02020603050405020304" pitchFamily="18" charset="0"/>
              <a:sym typeface="Roboto Condense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8783" y="4981397"/>
            <a:ext cx="2555677" cy="226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5"/>
              </a:lnSpc>
            </a:pPr>
            <a:r>
              <a:rPr lang="en-US" sz="3399" b="1" spc="8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ID:</a:t>
            </a:r>
          </a:p>
          <a:p>
            <a:pPr algn="l">
              <a:lnSpc>
                <a:spcPts val="6085"/>
              </a:lnSpc>
            </a:pPr>
            <a:r>
              <a:rPr lang="en-US" sz="3399" b="1" spc="8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Title : </a:t>
            </a:r>
          </a:p>
          <a:p>
            <a:pPr algn="l">
              <a:lnSpc>
                <a:spcPts val="6085"/>
              </a:lnSpc>
            </a:pPr>
            <a:endParaRPr lang="en-US" sz="3399" b="1" spc="8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056007" y="5105222"/>
            <a:ext cx="357339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b="1" spc="81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075</a:t>
            </a:r>
            <a:endParaRPr lang="en-US" sz="3399" b="1" spc="8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349689" y="5887798"/>
            <a:ext cx="1432871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600" dirty="0" smtClean="0"/>
              <a:t>Elevated </a:t>
            </a:r>
            <a:r>
              <a:rPr lang="en-US" sz="3600" dirty="0"/>
              <a:t>View Gait Biometrics: Efficient Skeleton-Based Recognition Using UAV Captured </a:t>
            </a:r>
            <a:r>
              <a:rPr lang="en-US" sz="3600" dirty="0" smtClean="0"/>
              <a:t>Videos</a:t>
            </a:r>
            <a:r>
              <a:rPr lang="en-US" sz="3399" b="1" spc="81" dirty="0">
                <a:solidFill>
                  <a:srgbClr val="000000"/>
                </a:solidFill>
                <a:latin typeface="Roboto Condensed Bold"/>
                <a:ea typeface="Roboto Condensed Bold"/>
                <a:sym typeface="Roboto Condensed Bold"/>
              </a:rPr>
              <a:t>.</a:t>
            </a:r>
            <a:endParaRPr lang="en-US" sz="3399" b="1" spc="81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983982" y="7355539"/>
            <a:ext cx="8572500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Mohammad Ali </a:t>
            </a:r>
            <a:r>
              <a:rPr lang="en-US" sz="2499" b="1" spc="59" dirty="0" err="1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Sakib</a:t>
            </a: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Department of </a:t>
            </a: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CSE</a:t>
            </a: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3499"/>
              </a:lnSpc>
            </a:pP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Pabna </a:t>
            </a: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University of </a:t>
            </a: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Science </a:t>
            </a: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and Technology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 smtClean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Pabna, </a:t>
            </a: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Bangladesh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pic>
        <p:nvPicPr>
          <p:cNvPr id="1026" name="Picture 2" descr="UCICS25 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6098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arendra University 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1600" y="203902"/>
            <a:ext cx="1343025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057400" cy="119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025262" y="2552700"/>
            <a:ext cx="842353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00B050"/>
                </a:solidFill>
                <a:latin typeface="quote-cjk-patch"/>
              </a:rPr>
              <a:t>Outlines :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Motivation &amp; Problem </a:t>
            </a:r>
            <a:r>
              <a:rPr lang="en-US" sz="3600" dirty="0" smtClean="0"/>
              <a:t>Statement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Literature </a:t>
            </a:r>
            <a:r>
              <a:rPr lang="en-US" sz="3600" dirty="0" smtClean="0"/>
              <a:t>Review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 smtClean="0"/>
              <a:t>Dataset Overview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Methodology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Proposed Work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Results and Discussion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Limitations &amp; Future Directions</a:t>
            </a:r>
          </a:p>
          <a:p>
            <a:endParaRPr lang="en-US" sz="3600" b="1" dirty="0">
              <a:solidFill>
                <a:srgbClr val="00B05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90038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7935" y="2075009"/>
            <a:ext cx="1069092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4000" b="1" dirty="0" smtClean="0"/>
              <a:t>Motivation </a:t>
            </a:r>
            <a:r>
              <a:rPr lang="en-US" sz="4000" b="1" dirty="0"/>
              <a:t>&amp; Problem </a:t>
            </a:r>
            <a:r>
              <a:rPr lang="en-US" sz="4000" b="1" dirty="0" smtClean="0"/>
              <a:t>Statement</a:t>
            </a:r>
            <a:endParaRPr lang="en-US" sz="3999" b="1" spc="95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935" y="3134213"/>
            <a:ext cx="834618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do this?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contact-free way to identify people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Gait (walking style) can be seen from far away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UAVs (drones) are widely used for surveillance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3996" y="3300220"/>
            <a:ext cx="9753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challenges?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videos are taken from high and different angles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appear small and unclear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Background, shadows, and clothing affect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5981700"/>
            <a:ext cx="10287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skeleton (stickman) images instead of raw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efficient deep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Grad-CAM to understand what the model learns</a:t>
            </a:r>
          </a:p>
        </p:txBody>
      </p: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057400" cy="119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4610" y="2551086"/>
            <a:ext cx="1069092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95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RELATED WORK / LITERATURE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600" y="3771901"/>
            <a:ext cx="10959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datasets: low camera angles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Appearance-based methods: background sensitive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models: not suitable for edge/UAV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7200900"/>
            <a:ext cx="1630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Research Gap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&amp; explainable skeleton-based gait recognition from aerial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views.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1603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467600" y="1553900"/>
            <a:ext cx="4401118" cy="746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200" b="1" spc="95" dirty="0" smtClean="0">
                <a:solidFill>
                  <a:srgbClr val="00B05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METHODOLOGY </a:t>
            </a:r>
            <a:endParaRPr lang="en-US" sz="3200" b="1" spc="95" dirty="0">
              <a:solidFill>
                <a:srgbClr val="00B05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7300" y="3619500"/>
            <a:ext cx="9144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Overall Pipeline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UAV video input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Pose estimation (stickman)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Deep learning model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Classification + </a:t>
            </a:r>
            <a:r>
              <a:rPr lang="en-US" sz="3200" dirty="0" err="1"/>
              <a:t>Explainability</a:t>
            </a:r>
            <a:endParaRPr lang="en-US" sz="3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991" y="3467100"/>
            <a:ext cx="1102620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8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8" name="Rectangle 17"/>
          <p:cNvSpPr/>
          <p:nvPr/>
        </p:nvSpPr>
        <p:spPr>
          <a:xfrm>
            <a:off x="457200" y="2905661"/>
            <a:ext cx="4343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Dataset </a:t>
            </a:r>
            <a:r>
              <a:rPr lang="en-US" sz="4000" b="1" dirty="0" smtClean="0">
                <a:solidFill>
                  <a:srgbClr val="00B050"/>
                </a:solidFill>
              </a:rPr>
              <a:t>Overview :</a:t>
            </a:r>
          </a:p>
          <a:p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19400" y="3597176"/>
            <a:ext cx="9144000" cy="261610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DroneGait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subjects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UAV-captured outdoor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elevation &amp; multiple angles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extracted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2933700"/>
            <a:ext cx="7620000" cy="3900208"/>
          </a:xfrm>
          <a:prstGeom prst="rect">
            <a:avLst/>
          </a:prstGeom>
        </p:spPr>
      </p:pic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657600" y="2933700"/>
            <a:ext cx="8229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: 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(no data leakage)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Resize: 224 × 224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(train only)</a:t>
            </a:r>
          </a:p>
          <a:p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53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172200" y="122591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: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" y="3238500"/>
            <a:ext cx="5715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Evaluated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MobileNetV3 (lightweight)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(deep CNN)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(global attention)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EfficientNet-B3 (proposed)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0" y="3226633"/>
            <a:ext cx="3816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Why EfficientNet-B3?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3766545"/>
            <a:ext cx="9144000" cy="18774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Key 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Balanced depth, width &amp;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Lightweight yet powerful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Suitable for resource-constrained UAV systems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54" y="6330674"/>
            <a:ext cx="17389891" cy="33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89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6617507" y="1110741"/>
            <a:ext cx="50529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Performance Comparison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86100"/>
            <a:ext cx="9189138" cy="30131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419781"/>
            <a:ext cx="8229710" cy="712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2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400800" y="1225910"/>
            <a:ext cx="8229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Explainable AI (Grad-CAM)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3848100"/>
            <a:ext cx="65532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Why </a:t>
            </a:r>
            <a:r>
              <a:rPr lang="en-US" sz="3200" b="1" dirty="0" err="1">
                <a:solidFill>
                  <a:srgbClr val="00B0F0"/>
                </a:solidFill>
              </a:rPr>
              <a:t>Explainability</a:t>
            </a:r>
            <a:r>
              <a:rPr lang="en-US" sz="3200" b="1" dirty="0">
                <a:solidFill>
                  <a:srgbClr val="00B0F0"/>
                </a:solidFill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Trustworthy biometric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Visual understanding of predictions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981700"/>
            <a:ext cx="616095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Grad-CAM 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Focuses on upper body joints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Confirms meaningful gait patterns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467100"/>
            <a:ext cx="5413458" cy="554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2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381000" y="2247900"/>
            <a:ext cx="26682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ROC Analysis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98486"/>
            <a:ext cx="6753326" cy="55454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2000" y="8343900"/>
            <a:ext cx="5181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Key 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Macro-average AUC = 0.99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Strong class </a:t>
            </a:r>
            <a:r>
              <a:rPr lang="en-US" sz="2800" dirty="0" err="1"/>
              <a:t>separability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10532132" y="1677769"/>
            <a:ext cx="5165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Confusion Matrix Analysis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622" y="2448978"/>
            <a:ext cx="8080177" cy="566632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287000" y="8122209"/>
            <a:ext cx="6934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Strong diagonal dominance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Minor confusion among similar subjects</a:t>
            </a:r>
          </a:p>
        </p:txBody>
      </p:sp>
    </p:spTree>
    <p:extLst>
      <p:ext uri="{BB962C8B-B14F-4D97-AF65-F5344CB8AC3E}">
        <p14:creationId xmlns:p14="http://schemas.microsoft.com/office/powerpoint/2010/main" val="133445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075773" y="1110741"/>
            <a:ext cx="41364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Accuracy &amp; Loss Curves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2252"/>
            <a:ext cx="7032744" cy="508834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2247900"/>
            <a:ext cx="6705600" cy="50242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29400" y="7303385"/>
            <a:ext cx="5410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Accuracy &amp; Loss Curves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Fast convergence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Stable validation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Minimal overfitting</a:t>
            </a:r>
          </a:p>
        </p:txBody>
      </p:sp>
    </p:spTree>
    <p:extLst>
      <p:ext uri="{BB962C8B-B14F-4D97-AF65-F5344CB8AC3E}">
        <p14:creationId xmlns:p14="http://schemas.microsoft.com/office/powerpoint/2010/main" val="13041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pic>
        <p:nvPicPr>
          <p:cNvPr id="21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82605" y="3314700"/>
            <a:ext cx="4779995" cy="1905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Current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Frame-level analysis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No explicit temporal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Small number of subjects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3287843"/>
            <a:ext cx="30657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Future Directions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8458200" y="3872618"/>
            <a:ext cx="7924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modeling (CNN-LSTM, Transformers)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Larger &amp; diverse UAV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edge deployment</a:t>
            </a:r>
          </a:p>
        </p:txBody>
      </p:sp>
    </p:spTree>
    <p:extLst>
      <p:ext uri="{BB962C8B-B14F-4D97-AF65-F5344CB8AC3E}">
        <p14:creationId xmlns:p14="http://schemas.microsoft.com/office/powerpoint/2010/main" val="108100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4610" y="2551086"/>
            <a:ext cx="1069092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95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REFERENCE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4610" y="3382936"/>
            <a:ext cx="16319902" cy="538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774" lvl="1" indent="-3429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[1] Li, A., </a:t>
            </a:r>
            <a:r>
              <a:rPr lang="en-US" sz="2800" dirty="0" err="1"/>
              <a:t>Hou</a:t>
            </a:r>
            <a:r>
              <a:rPr lang="en-US" sz="2800" dirty="0"/>
              <a:t>, S., </a:t>
            </a:r>
            <a:r>
              <a:rPr lang="en-US" sz="2800" dirty="0" err="1"/>
              <a:t>Cai</a:t>
            </a:r>
            <a:r>
              <a:rPr lang="en-US" sz="2800" dirty="0"/>
              <a:t>, Q., Fu, Y., &amp; Huang, Y. (2023). Gait recognition with drones: A benchmark. IEEE Transactions on Multimedia, 26, 3530-3540</a:t>
            </a:r>
            <a:r>
              <a:rPr lang="en-US" sz="2800" dirty="0" smtClean="0"/>
              <a:t>.</a:t>
            </a:r>
          </a:p>
          <a:p>
            <a:pPr marL="612774" lvl="1" indent="-3429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/>
              <a:t>[2] An, W., Yu, S., </a:t>
            </a:r>
            <a:r>
              <a:rPr lang="en-US" sz="2800" dirty="0" err="1"/>
              <a:t>Makihara</a:t>
            </a:r>
            <a:r>
              <a:rPr lang="en-US" sz="2800" dirty="0"/>
              <a:t>, Y., Wu, X., Xu, C., Yu, Y., ... &amp; Yagi, Y. (2020). Performance evaluation of model-based gait on multi view very large population database with pose sequences. IEEE transactions on biometrics, behavior, and identity science, 2(4), 421-430. </a:t>
            </a:r>
            <a:endParaRPr lang="en-US" sz="2800" dirty="0" smtClean="0"/>
          </a:p>
          <a:p>
            <a:pPr marL="612774" lvl="1" indent="-3429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[</a:t>
            </a:r>
            <a:r>
              <a:rPr lang="en-US" sz="2800" dirty="0"/>
              <a:t>3] Chao, H., He, Y., Zhang, J., &amp; Feng, J. (2019, July). </a:t>
            </a:r>
            <a:r>
              <a:rPr lang="en-US" sz="2800" dirty="0" err="1"/>
              <a:t>Gaitset</a:t>
            </a:r>
            <a:r>
              <a:rPr lang="en-US" sz="2800" dirty="0"/>
              <a:t>: Regarding gait as a set for cross-view gait recognition. In</a:t>
            </a:r>
            <a:r>
              <a:rPr lang="en-US" sz="2499" spc="5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/>
              <a:t>Proceedings of the AAAI conference on artificial intelligence (Vol. 33, No. 01, pp. 8126-8133</a:t>
            </a:r>
            <a:r>
              <a:rPr lang="en-US" sz="2800" dirty="0" smtClean="0"/>
              <a:t>).</a:t>
            </a:r>
          </a:p>
          <a:p>
            <a:pPr marL="612774" lvl="1" indent="-3429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[4] Hsu, H. M., Wang, Y., Yang, C. Y., Hwang, J. N., </a:t>
            </a:r>
            <a:r>
              <a:rPr lang="en-US" sz="2800" dirty="0" err="1"/>
              <a:t>Thuc</a:t>
            </a:r>
            <a:r>
              <a:rPr lang="en-US" sz="2800" dirty="0"/>
              <a:t>, H. L. U., &amp; Kim, K. J. (2022, October). GAITTAKE: Gait recognition by temporal attention and </a:t>
            </a:r>
            <a:r>
              <a:rPr lang="en-US" sz="2800" dirty="0" err="1"/>
              <a:t>keypoint</a:t>
            </a:r>
            <a:r>
              <a:rPr lang="en-US" sz="2800" dirty="0"/>
              <a:t>-guided embedding. In 2022 IEEE International Conference on Image Processing (ICIP) (pp. 2546-2550). IEEE</a:t>
            </a:r>
            <a:r>
              <a:rPr lang="en-US" sz="2800" dirty="0" smtClean="0"/>
              <a:t>.</a:t>
            </a:r>
          </a:p>
          <a:p>
            <a:pPr marL="612774" lvl="1" indent="-3429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[5] Zhang, C., Chen, X. P., Han, G. Q., &amp; Liu, X. J. (2023). Spatial transformer network on skeleton-based gait recognition. Expert Systems, 40(6), e13244.</a:t>
            </a:r>
            <a:endParaRPr lang="en-US" sz="2499" spc="5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17935" y="4087813"/>
            <a:ext cx="16641365" cy="18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 spc="264" dirty="0">
                <a:solidFill>
                  <a:srgbClr val="167B45"/>
                </a:solidFill>
                <a:latin typeface="ITC Edwardian Script"/>
                <a:ea typeface="ITC Edwardian Script"/>
                <a:cs typeface="ITC Edwardian Script"/>
                <a:sym typeface="ITC Edwardian Script"/>
              </a:rPr>
              <a:t>Thank You!</a:t>
            </a:r>
          </a:p>
        </p:txBody>
      </p:sp>
      <p:pic>
        <p:nvPicPr>
          <p:cNvPr id="17" name="Picture 2" descr="UCICS25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8697"/>
            <a:ext cx="2514600" cy="145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705</Words>
  <Application>Microsoft Office PowerPoint</Application>
  <PresentationFormat>Custom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Calibri</vt:lpstr>
      <vt:lpstr>ITC Edwardian Script</vt:lpstr>
      <vt:lpstr>Times New Roman</vt:lpstr>
      <vt:lpstr>Times New Roman Bold</vt:lpstr>
      <vt:lpstr>quote-cjk-patch</vt:lpstr>
      <vt:lpstr>Roboto Condensed Bold</vt:lpstr>
      <vt:lpstr>Arial</vt:lpstr>
      <vt:lpstr>Aptos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Compas_2025</dc:title>
  <dc:creator>Ali</dc:creator>
  <cp:lastModifiedBy>Ali</cp:lastModifiedBy>
  <cp:revision>23</cp:revision>
  <dcterms:created xsi:type="dcterms:W3CDTF">2006-08-16T00:00:00Z</dcterms:created>
  <dcterms:modified xsi:type="dcterms:W3CDTF">2026-01-17T08:35:23Z</dcterms:modified>
  <dc:identifier>DAG17Vso9ds</dc:identifier>
</cp:coreProperties>
</file>