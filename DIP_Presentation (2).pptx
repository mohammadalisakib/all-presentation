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26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1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02920"/>
            <a:ext cx="420624" cy="420624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1033272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1563624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2093976"/>
            <a:ext cx="420624" cy="420624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308592" y="502920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308592" y="1033272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08592" y="1563624"/>
            <a:ext cx="420624" cy="420624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308592" y="2093976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838944" y="502920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838944" y="1033272"/>
            <a:ext cx="420624" cy="420624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838944" y="1563624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838944" y="2093976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369296" y="502920"/>
            <a:ext cx="420624" cy="420624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369296" y="1033272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369296" y="1563624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69296" y="2093976"/>
            <a:ext cx="420624" cy="420624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899648" y="502920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899648" y="1033272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899648" y="1563624"/>
            <a:ext cx="420624" cy="420624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899648" y="2093976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0" y="502920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430000" y="1033272"/>
            <a:ext cx="420624" cy="420624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430000" y="1563624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0" y="2093976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IMAGE PROCESSING</a:t>
            </a:r>
            <a:endParaRPr lang="en-US" sz="4600" dirty="0"/>
          </a:p>
        </p:txBody>
      </p:sp>
      <p:sp>
        <p:nvSpPr>
          <p:cNvPr id="27" name="Text 25"/>
          <p:cNvSpPr/>
          <p:nvPr/>
        </p:nvSpPr>
        <p:spPr>
          <a:xfrm>
            <a:off x="749808" y="32004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Fundamentals, Core Steps &amp; System Components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49808" y="3977640"/>
            <a:ext cx="219456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720932" y="5440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Ali Sakib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: 220137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: 2021-22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9808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&amp; Engineering | Pabna University of Science and Technology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6459"/>
          </a:xfrm>
          <a:prstGeom prst="rect">
            <a:avLst/>
          </a:prstGeom>
          <a:solidFill>
            <a:srgbClr val="C9D8DE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Image?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" y="2295144"/>
            <a:ext cx="0" cy="329184"/>
          </a:xfrm>
          <a:prstGeom prst="line">
            <a:avLst/>
          </a:prstGeom>
          <a:noFill/>
          <a:ln w="12700">
            <a:solidFill>
              <a:srgbClr val="C9D8D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40080" y="262432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24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264261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vs. Digital Image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96112" y="3136392"/>
            <a:ext cx="0" cy="329184"/>
          </a:xfrm>
          <a:prstGeom prst="line">
            <a:avLst/>
          </a:prstGeom>
          <a:noFill/>
          <a:ln w="12700">
            <a:solidFill>
              <a:srgbClr val="C9D8DE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40080" y="3465576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655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348386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Steps in Digital Image Processing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96112" y="3977640"/>
            <a:ext cx="0" cy="329184"/>
          </a:xfrm>
          <a:prstGeom prst="line">
            <a:avLst/>
          </a:prstGeom>
          <a:noFill/>
          <a:ln w="12700">
            <a:solidFill>
              <a:srgbClr val="C9D8DE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40080" y="4306824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3068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17320" y="43251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 at each of the 10 steps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96112" y="4818888"/>
            <a:ext cx="0" cy="329184"/>
          </a:xfrm>
          <a:prstGeom prst="line">
            <a:avLst/>
          </a:prstGeom>
          <a:noFill/>
          <a:ln w="12700">
            <a:solidFill>
              <a:srgbClr val="C9D8DE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40080" y="514807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1480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17320" y="51663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of an Image Processing System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Processing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Image?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6459"/>
          </a:xfrm>
          <a:prstGeom prst="rect">
            <a:avLst/>
          </a:prstGeom>
          <a:solidFill>
            <a:srgbClr val="C9D8D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630936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C9D8D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96596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" y="21442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19933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two-dimensional function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828800" y="23957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is defined as a 2-D function </a:t>
            </a: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f(x, y)</a:t>
            </a:r>
            <a:r>
              <a:rPr lang="en-US" sz="13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where x and y are spatial (plane) coordinates.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3246120"/>
            <a:ext cx="5852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amplitude of f at any pair (x, y) is called the intensity or gray level of the image at that point.</a:t>
            </a:r>
            <a:endParaRPr lang="en-US" sz="12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x, y, and the intensity values of f are all finite and discrete, we call it a digital image.</a:t>
            </a:r>
            <a:endParaRPr lang="en-US" sz="12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image is composed of a finite number of elements, each with a particular location and value - these elements are called picture elements, image elements, pels, or pixels.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178040" y="1828800"/>
            <a:ext cx="576072" cy="576072"/>
          </a:xfrm>
          <a:prstGeom prst="rect">
            <a:avLst/>
          </a:prstGeom>
          <a:solidFill>
            <a:srgbClr val="0B3D5C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81544" y="1828800"/>
            <a:ext cx="576072" cy="576072"/>
          </a:xfrm>
          <a:prstGeom prst="rect">
            <a:avLst/>
          </a:prstGeom>
          <a:solidFill>
            <a:srgbClr val="0F4F73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385048" y="1828800"/>
            <a:ext cx="576072" cy="576072"/>
          </a:xfrm>
          <a:prstGeom prst="rect">
            <a:avLst/>
          </a:prstGeom>
          <a:solidFill>
            <a:srgbClr val="1C7293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988552" y="1828800"/>
            <a:ext cx="576072" cy="576072"/>
          </a:xfrm>
          <a:prstGeom prst="rect">
            <a:avLst/>
          </a:prstGeom>
          <a:solidFill>
            <a:srgbClr val="2C8FA8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592056" y="1828800"/>
            <a:ext cx="576072" cy="576072"/>
          </a:xfrm>
          <a:prstGeom prst="rect">
            <a:avLst/>
          </a:prstGeom>
          <a:solidFill>
            <a:srgbClr val="5FAFC1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195560" y="1828800"/>
            <a:ext cx="576072" cy="576072"/>
          </a:xfrm>
          <a:prstGeom prst="rect">
            <a:avLst/>
          </a:prstGeom>
          <a:solidFill>
            <a:srgbClr val="9FCFDA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178040" y="2432304"/>
            <a:ext cx="576072" cy="576072"/>
          </a:xfrm>
          <a:prstGeom prst="rect">
            <a:avLst/>
          </a:prstGeom>
          <a:solidFill>
            <a:srgbClr val="0F4F73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81544" y="2432304"/>
            <a:ext cx="576072" cy="576072"/>
          </a:xfrm>
          <a:prstGeom prst="rect">
            <a:avLst/>
          </a:prstGeom>
          <a:solidFill>
            <a:srgbClr val="1C7293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85048" y="2432304"/>
            <a:ext cx="576072" cy="576072"/>
          </a:xfrm>
          <a:prstGeom prst="rect">
            <a:avLst/>
          </a:prstGeom>
          <a:solidFill>
            <a:srgbClr val="2C8FA8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988552" y="2432304"/>
            <a:ext cx="576072" cy="576072"/>
          </a:xfrm>
          <a:prstGeom prst="rect">
            <a:avLst/>
          </a:prstGeom>
          <a:solidFill>
            <a:srgbClr val="5FAFC1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592056" y="2432304"/>
            <a:ext cx="576072" cy="576072"/>
          </a:xfrm>
          <a:prstGeom prst="rect">
            <a:avLst/>
          </a:prstGeom>
          <a:solidFill>
            <a:srgbClr val="9FCFDA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195560" y="2432304"/>
            <a:ext cx="576072" cy="576072"/>
          </a:xfrm>
          <a:prstGeom prst="rect">
            <a:avLst/>
          </a:prstGeom>
          <a:solidFill>
            <a:srgbClr val="0B3D5C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178040" y="3035808"/>
            <a:ext cx="576072" cy="576072"/>
          </a:xfrm>
          <a:prstGeom prst="rect">
            <a:avLst/>
          </a:prstGeom>
          <a:solidFill>
            <a:srgbClr val="1C7293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81544" y="3035808"/>
            <a:ext cx="576072" cy="576072"/>
          </a:xfrm>
          <a:prstGeom prst="rect">
            <a:avLst/>
          </a:prstGeom>
          <a:solidFill>
            <a:srgbClr val="2C8FA8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385048" y="3035808"/>
            <a:ext cx="576072" cy="576072"/>
          </a:xfrm>
          <a:prstGeom prst="rect">
            <a:avLst/>
          </a:prstGeom>
          <a:solidFill>
            <a:srgbClr val="5FAFC1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988552" y="3035808"/>
            <a:ext cx="576072" cy="576072"/>
          </a:xfrm>
          <a:prstGeom prst="rect">
            <a:avLst/>
          </a:prstGeom>
          <a:solidFill>
            <a:srgbClr val="9FCFDA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592056" y="3035808"/>
            <a:ext cx="576072" cy="576072"/>
          </a:xfrm>
          <a:prstGeom prst="rect">
            <a:avLst/>
          </a:prstGeom>
          <a:solidFill>
            <a:srgbClr val="0B3D5C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195560" y="3035808"/>
            <a:ext cx="576072" cy="576072"/>
          </a:xfrm>
          <a:prstGeom prst="rect">
            <a:avLst/>
          </a:prstGeom>
          <a:solidFill>
            <a:srgbClr val="0F4F73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178040" y="3639312"/>
            <a:ext cx="576072" cy="576072"/>
          </a:xfrm>
          <a:prstGeom prst="rect">
            <a:avLst/>
          </a:prstGeom>
          <a:solidFill>
            <a:srgbClr val="2C8FA8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781544" y="3639312"/>
            <a:ext cx="576072" cy="576072"/>
          </a:xfrm>
          <a:prstGeom prst="rect">
            <a:avLst/>
          </a:prstGeom>
          <a:solidFill>
            <a:srgbClr val="5FAFC1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385048" y="3639312"/>
            <a:ext cx="576072" cy="576072"/>
          </a:xfrm>
          <a:prstGeom prst="rect">
            <a:avLst/>
          </a:prstGeom>
          <a:solidFill>
            <a:srgbClr val="9FCFDA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988552" y="3639312"/>
            <a:ext cx="576072" cy="576072"/>
          </a:xfrm>
          <a:prstGeom prst="rect">
            <a:avLst/>
          </a:prstGeom>
          <a:solidFill>
            <a:srgbClr val="0B3D5C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592056" y="3639312"/>
            <a:ext cx="576072" cy="576072"/>
          </a:xfrm>
          <a:prstGeom prst="rect">
            <a:avLst/>
          </a:prstGeom>
          <a:solidFill>
            <a:srgbClr val="0F4F73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195560" y="3639312"/>
            <a:ext cx="576072" cy="576072"/>
          </a:xfrm>
          <a:prstGeom prst="rect">
            <a:avLst/>
          </a:prstGeom>
          <a:solidFill>
            <a:srgbClr val="1C7293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178040" y="4242816"/>
            <a:ext cx="576072" cy="576072"/>
          </a:xfrm>
          <a:prstGeom prst="rect">
            <a:avLst/>
          </a:prstGeom>
          <a:solidFill>
            <a:srgbClr val="5FAFC1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781544" y="4242816"/>
            <a:ext cx="576072" cy="576072"/>
          </a:xfrm>
          <a:prstGeom prst="rect">
            <a:avLst/>
          </a:prstGeom>
          <a:solidFill>
            <a:srgbClr val="9FCFDA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385048" y="4242816"/>
            <a:ext cx="576072" cy="576072"/>
          </a:xfrm>
          <a:prstGeom prst="rect">
            <a:avLst/>
          </a:prstGeom>
          <a:solidFill>
            <a:srgbClr val="0B3D5C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988552" y="4242816"/>
            <a:ext cx="576072" cy="576072"/>
          </a:xfrm>
          <a:prstGeom prst="rect">
            <a:avLst/>
          </a:prstGeom>
          <a:solidFill>
            <a:srgbClr val="0F4F73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592056" y="4242816"/>
            <a:ext cx="576072" cy="576072"/>
          </a:xfrm>
          <a:prstGeom prst="rect">
            <a:avLst/>
          </a:prstGeom>
          <a:solidFill>
            <a:srgbClr val="1C7293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195560" y="4242816"/>
            <a:ext cx="576072" cy="576072"/>
          </a:xfrm>
          <a:prstGeom prst="rect">
            <a:avLst/>
          </a:prstGeom>
          <a:solidFill>
            <a:srgbClr val="2C8FA8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178040" y="4846320"/>
            <a:ext cx="576072" cy="576072"/>
          </a:xfrm>
          <a:prstGeom prst="rect">
            <a:avLst/>
          </a:prstGeom>
          <a:solidFill>
            <a:srgbClr val="9FCFDA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781544" y="4846320"/>
            <a:ext cx="576072" cy="576072"/>
          </a:xfrm>
          <a:prstGeom prst="rect">
            <a:avLst/>
          </a:prstGeom>
          <a:solidFill>
            <a:srgbClr val="0B3D5C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385048" y="4846320"/>
            <a:ext cx="576072" cy="576072"/>
          </a:xfrm>
          <a:prstGeom prst="rect">
            <a:avLst/>
          </a:prstGeom>
          <a:solidFill>
            <a:srgbClr val="0F4F73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988552" y="4846320"/>
            <a:ext cx="576072" cy="576072"/>
          </a:xfrm>
          <a:prstGeom prst="rect">
            <a:avLst/>
          </a:prstGeom>
          <a:solidFill>
            <a:srgbClr val="1C7293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592056" y="4846320"/>
            <a:ext cx="576072" cy="576072"/>
          </a:xfrm>
          <a:prstGeom prst="rect">
            <a:avLst/>
          </a:prstGeom>
          <a:solidFill>
            <a:srgbClr val="2C8FA8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0195560" y="4846320"/>
            <a:ext cx="576072" cy="576072"/>
          </a:xfrm>
          <a:prstGeom prst="rect">
            <a:avLst/>
          </a:prstGeom>
          <a:solidFill>
            <a:srgbClr val="5FAFC1"/>
          </a:solidFill>
          <a:ln w="6350">
            <a:solidFill>
              <a:srgbClr val="15213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178040" y="5586984"/>
            <a:ext cx="3621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image: a grid of discrete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elements (pixels)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Processing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vs. Digital Image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6459"/>
          </a:xfrm>
          <a:prstGeom prst="rect">
            <a:avLst/>
          </a:prstGeom>
          <a:solidFill>
            <a:srgbClr val="C9D8D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1521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7393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Aspect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51960" y="160020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167335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51960" y="200253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E7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(Continuous / Analog)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955280" y="160020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0" y="167335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Image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0" y="200253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E7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(Discrete)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359152"/>
            <a:ext cx="11018520" cy="658368"/>
          </a:xfrm>
          <a:prstGeom prst="rect">
            <a:avLst/>
          </a:prstGeom>
          <a:solidFill>
            <a:srgbClr val="E8F1F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35915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(x, y)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0" y="235915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- infinite possible points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092440" y="235915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- sampled on a finite grid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307238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/ Intensity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0" y="307238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range of values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92440" y="307238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into a finite set of gray levels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18520" cy="658368"/>
          </a:xfrm>
          <a:prstGeom prst="rect">
            <a:avLst/>
          </a:prstGeom>
          <a:solidFill>
            <a:srgbClr val="E8F1F4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785616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unit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0" y="3785616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elemental unit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92440" y="3785616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Composed of pixels (picture elements)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5800" y="449884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processing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0" y="449884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stored/processed directly by a computer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92440" y="449884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and processed by a computer as a 2-D array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212080"/>
            <a:ext cx="11018520" cy="658368"/>
          </a:xfrm>
          <a:prstGeom prst="rect">
            <a:avLst/>
          </a:prstGeom>
          <a:solidFill>
            <a:srgbClr val="E8F1F4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52120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89120" y="52120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as captured by the human eye / photographic film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092440" y="52120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JPEG/PNG photo, a scanned document, an MRI scan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Processing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 Steps in Digital Image Processing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6459"/>
          </a:xfrm>
          <a:prstGeom prst="rect">
            <a:avLst/>
          </a:prstGeom>
          <a:solidFill>
            <a:srgbClr val="C9D8DE"/>
          </a:solidFill>
          <a:ln/>
        </p:spPr>
      </p:sp>
      <p:sp>
        <p:nvSpPr>
          <p:cNvPr id="5" name="Shape 3"/>
          <p:cNvSpPr/>
          <p:nvPr/>
        </p:nvSpPr>
        <p:spPr>
          <a:xfrm>
            <a:off x="3931920" y="2148840"/>
            <a:ext cx="0" cy="2011680"/>
          </a:xfrm>
          <a:prstGeom prst="line">
            <a:avLst/>
          </a:prstGeom>
          <a:noFill/>
          <a:ln w="12700">
            <a:solidFill>
              <a:srgbClr val="B9CB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3931920" y="2533037"/>
            <a:ext cx="1558665" cy="1627483"/>
          </a:xfrm>
          <a:prstGeom prst="line">
            <a:avLst/>
          </a:prstGeom>
          <a:noFill/>
          <a:ln w="12700">
            <a:solidFill>
              <a:srgbClr val="B9CB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3931920" y="3538877"/>
            <a:ext cx="2521974" cy="621643"/>
          </a:xfrm>
          <a:prstGeom prst="line">
            <a:avLst/>
          </a:prstGeom>
          <a:noFill/>
          <a:ln w="12700">
            <a:solidFill>
              <a:srgbClr val="B9CB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0" y="4160520"/>
            <a:ext cx="2521974" cy="621643"/>
          </a:xfrm>
          <a:prstGeom prst="line">
            <a:avLst/>
          </a:prstGeom>
          <a:noFill/>
          <a:ln w="12700">
            <a:solidFill>
              <a:srgbClr val="B9CB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0" y="4160520"/>
            <a:ext cx="1558665" cy="1627483"/>
          </a:xfrm>
          <a:prstGeom prst="line">
            <a:avLst/>
          </a:prstGeom>
          <a:noFill/>
          <a:ln w="12700">
            <a:solidFill>
              <a:srgbClr val="B9CB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4160520"/>
            <a:ext cx="0" cy="2011680"/>
          </a:xfrm>
          <a:prstGeom prst="line">
            <a:avLst/>
          </a:prstGeom>
          <a:noFill/>
          <a:ln w="12700">
            <a:solidFill>
              <a:srgbClr val="B9CB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2373255" y="4160520"/>
            <a:ext cx="1558665" cy="1627483"/>
          </a:xfrm>
          <a:prstGeom prst="line">
            <a:avLst/>
          </a:prstGeom>
          <a:noFill/>
          <a:ln w="12700">
            <a:solidFill>
              <a:srgbClr val="B9CB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1409946" y="4160520"/>
            <a:ext cx="2521974" cy="621643"/>
          </a:xfrm>
          <a:prstGeom prst="line">
            <a:avLst/>
          </a:prstGeom>
          <a:noFill/>
          <a:ln w="12700">
            <a:solidFill>
              <a:srgbClr val="B9CB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 flipV="1">
            <a:off x="1409946" y="3538877"/>
            <a:ext cx="2521974" cy="621643"/>
          </a:xfrm>
          <a:prstGeom prst="line">
            <a:avLst/>
          </a:prstGeom>
          <a:noFill/>
          <a:ln w="12700">
            <a:solidFill>
              <a:srgbClr val="B9CB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 flipV="1">
            <a:off x="2373255" y="2533037"/>
            <a:ext cx="1558665" cy="1627483"/>
          </a:xfrm>
          <a:prstGeom prst="line">
            <a:avLst/>
          </a:prstGeom>
          <a:noFill/>
          <a:ln w="12700">
            <a:solidFill>
              <a:srgbClr val="B9CB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31920" y="2148840"/>
            <a:ext cx="1558665" cy="384197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90585" y="2533037"/>
            <a:ext cx="963308" cy="10058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53894" y="3538877"/>
            <a:ext cx="0" cy="1243287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H="1">
            <a:off x="5490585" y="4782163"/>
            <a:ext cx="963308" cy="10058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H="1">
            <a:off x="3931920" y="5788003"/>
            <a:ext cx="1558665" cy="384197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H="1" flipV="1">
            <a:off x="2373255" y="5788003"/>
            <a:ext cx="1558665" cy="384197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 flipV="1">
            <a:off x="1409946" y="4782163"/>
            <a:ext cx="963308" cy="10058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H="1" flipV="1">
            <a:off x="1409946" y="3538877"/>
            <a:ext cx="0" cy="1243287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1409946" y="2533037"/>
            <a:ext cx="963308" cy="10058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2373255" y="2148840"/>
            <a:ext cx="1558665" cy="384197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223260" y="3451860"/>
            <a:ext cx="1417320" cy="1417320"/>
          </a:xfrm>
          <a:prstGeom prst="ellipse">
            <a:avLst/>
          </a:prstGeom>
          <a:solidFill>
            <a:srgbClr val="15213B"/>
          </a:solidFill>
          <a:ln w="254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464" y="3776472"/>
            <a:ext cx="438912" cy="43891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3223260" y="42062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3108960" y="1837944"/>
            <a:ext cx="1645920" cy="621792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 w="15875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3163824" y="18562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108960" y="183794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667625" y="2222141"/>
            <a:ext cx="1645920" cy="621792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722489" y="2240429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667625" y="2222141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5630934" y="3227981"/>
            <a:ext cx="1645920" cy="621792"/>
          </a:xfrm>
          <a:prstGeom prst="roundRect">
            <a:avLst>
              <a:gd name="adj" fmla="val 11765"/>
            </a:avLst>
          </a:prstGeom>
          <a:solidFill>
            <a:srgbClr val="0B4F73"/>
          </a:solidFill>
          <a:ln w="15875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5685798" y="3246269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630934" y="3227981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Restoration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630934" y="4471267"/>
            <a:ext cx="1645920" cy="621792"/>
          </a:xfrm>
          <a:prstGeom prst="roundRect">
            <a:avLst>
              <a:gd name="adj" fmla="val 11765"/>
            </a:avLst>
          </a:prstGeom>
          <a:solidFill>
            <a:srgbClr val="2C8FA8"/>
          </a:solidFill>
          <a:ln w="15875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5685798" y="4489555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630934" y="4471267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Image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667625" y="5477107"/>
            <a:ext cx="1645920" cy="621792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4722489" y="5495395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667625" y="5477107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Wavelets &amp;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Multiresolution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3108960" y="5861304"/>
            <a:ext cx="1645920" cy="621792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 w="15875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3163824" y="58795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3108960" y="586130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1550295" y="5477107"/>
            <a:ext cx="1645920" cy="621792"/>
          </a:xfrm>
          <a:prstGeom prst="roundRect">
            <a:avLst>
              <a:gd name="adj" fmla="val 11765"/>
            </a:avLst>
          </a:prstGeom>
          <a:solidFill>
            <a:srgbClr val="0B4F73"/>
          </a:solidFill>
          <a:ln w="15875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1605159" y="5495395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1550295" y="5477107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586986" y="4471267"/>
            <a:ext cx="1645920" cy="621792"/>
          </a:xfrm>
          <a:prstGeom prst="roundRect">
            <a:avLst>
              <a:gd name="adj" fmla="val 11765"/>
            </a:avLst>
          </a:prstGeom>
          <a:solidFill>
            <a:srgbClr val="2C8FA8"/>
          </a:solidFill>
          <a:ln w="15875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641850" y="4489555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586986" y="4471267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586986" y="3227981"/>
            <a:ext cx="1645920" cy="621792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3" name="Text 50"/>
          <p:cNvSpPr/>
          <p:nvPr/>
        </p:nvSpPr>
        <p:spPr>
          <a:xfrm>
            <a:off x="641850" y="3246269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586986" y="3227981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Description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1550295" y="2222141"/>
            <a:ext cx="1645920" cy="621792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 w="15875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Text 53"/>
          <p:cNvSpPr/>
          <p:nvPr/>
        </p:nvSpPr>
        <p:spPr>
          <a:xfrm>
            <a:off x="1605159" y="2240429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1550295" y="2222141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7818120" y="21945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about the problem domain links every stage, guiding and constraining each operation.</a:t>
            </a:r>
            <a:endParaRPr lang="en-US" sz="1250" dirty="0"/>
          </a:p>
        </p:txBody>
      </p:sp>
      <p:sp>
        <p:nvSpPr>
          <p:cNvPr id="59" name="Shape 56"/>
          <p:cNvSpPr/>
          <p:nvPr/>
        </p:nvSpPr>
        <p:spPr>
          <a:xfrm>
            <a:off x="7818120" y="3657600"/>
            <a:ext cx="38404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C9D8DE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001000" y="3794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this diagram</a:t>
            </a:r>
            <a:endParaRPr lang="en-US" sz="1300" dirty="0"/>
          </a:p>
        </p:txBody>
      </p:sp>
      <p:sp>
        <p:nvSpPr>
          <p:cNvPr id="61" name="Text 58"/>
          <p:cNvSpPr/>
          <p:nvPr/>
        </p:nvSpPr>
        <p:spPr>
          <a:xfrm>
            <a:off x="8001000" y="4160520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 show the typical processing order, from acquisition to recognition.
</a:t>
            </a:r>
            <a:r>
              <a:rPr lang="en-US" sz="1150" b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</a:t>
            </a: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Spokes show that the knowledge base can inform — and be updated by - any step.</a:t>
            </a:r>
            <a:endParaRPr lang="en-US" sz="1150" dirty="0"/>
          </a:p>
        </p:txBody>
      </p:sp>
      <p:sp>
        <p:nvSpPr>
          <p:cNvPr id="62" name="Text 5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Processing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5213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85800"/>
            <a:ext cx="1188720" cy="11887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9601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10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23774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Acquisition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685800" y="3520440"/>
            <a:ext cx="9144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370332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very first step: capturing an image and putting it into digital form.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434840" y="594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Tasks &amp; Notes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434840" y="1097280"/>
            <a:ext cx="6949440" cy="13716"/>
          </a:xfrm>
          <a:prstGeom prst="rect">
            <a:avLst/>
          </a:prstGeom>
          <a:solidFill>
            <a:srgbClr val="C9D8DE"/>
          </a:solidFill>
          <a:ln/>
        </p:spPr>
      </p:sp>
      <p:sp>
        <p:nvSpPr>
          <p:cNvPr id="11" name="Shape 8"/>
          <p:cNvSpPr/>
          <p:nvPr/>
        </p:nvSpPr>
        <p:spPr>
          <a:xfrm>
            <a:off x="4434840" y="1417320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417320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4709160" y="1417320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Involves an imaging sensor (camera, scanner, satellite, ultrasound/MRI device) plus a digitizer.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434840" y="2587752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34840" y="2587752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4709160" y="2587752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sensor responds to the energy radiated by the object of interest.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434840" y="3758184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34840" y="3758184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4709160" y="3758184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digitizer converts the sensor output into digital form (sampling + quantization).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434840" y="4928616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34840" y="4928616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19"/>
          <p:cNvSpPr/>
          <p:nvPr/>
        </p:nvSpPr>
        <p:spPr>
          <a:xfrm>
            <a:off x="4709160" y="4928616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such as scaling may already happen at this stage.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Processing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5213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85800"/>
            <a:ext cx="1188720" cy="11887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9601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10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23774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Enhancement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685800" y="3520440"/>
            <a:ext cx="9144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370332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an image more suitable for a specific purpose than the original.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434840" y="594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Tasks &amp; Notes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434840" y="1097280"/>
            <a:ext cx="6949440" cy="13716"/>
          </a:xfrm>
          <a:prstGeom prst="rect">
            <a:avLst/>
          </a:prstGeom>
          <a:solidFill>
            <a:srgbClr val="C9D8DE"/>
          </a:solidFill>
          <a:ln/>
        </p:spPr>
      </p:sp>
      <p:sp>
        <p:nvSpPr>
          <p:cNvPr id="11" name="Shape 8"/>
          <p:cNvSpPr/>
          <p:nvPr/>
        </p:nvSpPr>
        <p:spPr>
          <a:xfrm>
            <a:off x="4434840" y="1417320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417320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4709160" y="1417320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out details that are obscured, or highlights features of interest.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434840" y="2587752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34840" y="2587752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4709160" y="2587752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tasks: contrast adjustment, noise reduction for viewing, sharpening edges.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434840" y="3758184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34840" y="3758184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4709160" y="3758184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subjective — "good" enhancement depends on the application and the viewer.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434840" y="4928616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34840" y="4928616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19"/>
          <p:cNvSpPr/>
          <p:nvPr/>
        </p:nvSpPr>
        <p:spPr>
          <a:xfrm>
            <a:off x="4709160" y="4928616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brightening a dark X-ray so bone structure is clearer to a radiologist.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Processing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5213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85800"/>
            <a:ext cx="1188720" cy="11887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9601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10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23774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Restoration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685800" y="3520440"/>
            <a:ext cx="9144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370332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improves </a:t>
            </a:r>
            <a:r>
              <a:rPr lang="en-US" sz="1300" i="1">
                <a:solidFill>
                  <a:srgbClr val="C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 - </a:t>
            </a:r>
            <a:r>
              <a:rPr lang="en-US" sz="1300" i="1" dirty="0">
                <a:solidFill>
                  <a:srgbClr val="C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objectively, using models of degradation.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434840" y="594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Tasks &amp; Notes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434840" y="1097280"/>
            <a:ext cx="6949440" cy="13716"/>
          </a:xfrm>
          <a:prstGeom prst="rect">
            <a:avLst/>
          </a:prstGeom>
          <a:solidFill>
            <a:srgbClr val="C9D8DE"/>
          </a:solidFill>
          <a:ln/>
        </p:spPr>
      </p:sp>
      <p:sp>
        <p:nvSpPr>
          <p:cNvPr id="11" name="Shape 8"/>
          <p:cNvSpPr/>
          <p:nvPr/>
        </p:nvSpPr>
        <p:spPr>
          <a:xfrm>
            <a:off x="4434840" y="1417320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417320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4709160" y="1417320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mathematical or probabilistic models of how the image was degraded.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434840" y="2587752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34840" y="2587752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4709160" y="2587752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 to "undo" a known degradation (e.g., motion blur, sensor noise).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434840" y="3758184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34840" y="3758184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4709160" y="3758184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enhancement, restoration techniques are grounded in the physics of the problem.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434840" y="4928616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34840" y="4928616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19"/>
          <p:cNvSpPr/>
          <p:nvPr/>
        </p:nvSpPr>
        <p:spPr>
          <a:xfrm>
            <a:off x="4709160" y="4928616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deblurring a photo degraded by camera shake or atmospheric turbulence.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Processing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5213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85800"/>
            <a:ext cx="1188720" cy="11887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9601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10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23774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 Image Processing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685800" y="3977640"/>
            <a:ext cx="9144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416052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color as a fundamental image descriptor.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434840" y="594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Tasks &amp; Notes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434840" y="1097280"/>
            <a:ext cx="6949440" cy="13716"/>
          </a:xfrm>
          <a:prstGeom prst="rect">
            <a:avLst/>
          </a:prstGeom>
          <a:solidFill>
            <a:srgbClr val="C9D8DE"/>
          </a:solidFill>
          <a:ln/>
        </p:spPr>
      </p:sp>
      <p:sp>
        <p:nvSpPr>
          <p:cNvPr id="11" name="Shape 8"/>
          <p:cNvSpPr/>
          <p:nvPr/>
        </p:nvSpPr>
        <p:spPr>
          <a:xfrm>
            <a:off x="4434840" y="1417320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417320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4709160" y="1417320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color models such as RGB, HSI, and CMYK to represent color information.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434840" y="2587752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34840" y="2587752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4709160" y="2587752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both full-color processing and pseudocolor processing (assigning color to grayscale data).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434840" y="3758184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34840" y="3758184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4709160" y="3758184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has become central since digital images are now routinely used over the internet.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434840" y="4928616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34840" y="4928616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19"/>
          <p:cNvSpPr/>
          <p:nvPr/>
        </p:nvSpPr>
        <p:spPr>
          <a:xfrm>
            <a:off x="4709160" y="4928616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false-color mapping of thermal or satellite imagery.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Processing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5213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85800"/>
            <a:ext cx="1188720" cy="11887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9601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of 10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23774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Wavelets &amp; Multiresolution Processing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685800" y="3977640"/>
            <a:ext cx="9144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416052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Representing images at several levels of resolution simultaneously.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434840" y="594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Tasks &amp; Notes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434840" y="1097280"/>
            <a:ext cx="6949440" cy="13716"/>
          </a:xfrm>
          <a:prstGeom prst="rect">
            <a:avLst/>
          </a:prstGeom>
          <a:solidFill>
            <a:srgbClr val="C9D8DE"/>
          </a:solidFill>
          <a:ln/>
        </p:spPr>
      </p:sp>
      <p:sp>
        <p:nvSpPr>
          <p:cNvPr id="11" name="Shape 8"/>
          <p:cNvSpPr/>
          <p:nvPr/>
        </p:nvSpPr>
        <p:spPr>
          <a:xfrm>
            <a:off x="4434840" y="1417320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417320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4709160" y="1417320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Wavelets are the foundation for representing images at multiple resolution levels.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434840" y="2587752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34840" y="2587752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4709160" y="2587752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pyramidal representations — coarse-to-fine views of the same image.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434840" y="3758184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34840" y="3758184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4709160" y="3758184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as a preprocessing step for compression and progressive transmission.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434840" y="4928616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34840" y="4928616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19"/>
          <p:cNvSpPr/>
          <p:nvPr/>
        </p:nvSpPr>
        <p:spPr>
          <a:xfrm>
            <a:off x="4709160" y="4928616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low-resolution thumbnail that progressively sharpens as more data arrives.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Processing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5213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85800"/>
            <a:ext cx="1188720" cy="11887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9601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of 10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23774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Compression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685800" y="3520440"/>
            <a:ext cx="9144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370332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the storage and bandwidth needed to keep or send an image.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434840" y="594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Tasks &amp; Notes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434840" y="1097280"/>
            <a:ext cx="6949440" cy="13716"/>
          </a:xfrm>
          <a:prstGeom prst="rect">
            <a:avLst/>
          </a:prstGeom>
          <a:solidFill>
            <a:srgbClr val="C9D8DE"/>
          </a:solidFill>
          <a:ln/>
        </p:spPr>
      </p:sp>
      <p:sp>
        <p:nvSpPr>
          <p:cNvPr id="11" name="Shape 8"/>
          <p:cNvSpPr/>
          <p:nvPr/>
        </p:nvSpPr>
        <p:spPr>
          <a:xfrm>
            <a:off x="4434840" y="1417320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417320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4709160" y="1417320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redundant data using lossless or lossy techniques.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434840" y="2587752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34840" y="2587752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4709160" y="2587752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Lossless: exact reconstruction (e.g., PNG). Lossy: smaller size, minor quality loss (e.g., JPEG).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434840" y="3758184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34840" y="3758184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4709160" y="3758184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given how large raw digital images and video actually are.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434840" y="4928616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34840" y="4928616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19"/>
          <p:cNvSpPr/>
          <p:nvPr/>
        </p:nvSpPr>
        <p:spPr>
          <a:xfrm>
            <a:off x="4709160" y="4928616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smartphone photo compressed for fast sharing over a mobile network.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Processing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5213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85800"/>
            <a:ext cx="1188720" cy="11887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9601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of 10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23774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Morphological Processing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685800" y="3977640"/>
            <a:ext cx="9144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416052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for extracting image components useful for shape representation.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434840" y="594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Tasks &amp; Notes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434840" y="1097280"/>
            <a:ext cx="6949440" cy="13716"/>
          </a:xfrm>
          <a:prstGeom prst="rect">
            <a:avLst/>
          </a:prstGeom>
          <a:solidFill>
            <a:srgbClr val="C9D8DE"/>
          </a:solidFill>
          <a:ln/>
        </p:spPr>
      </p:sp>
      <p:sp>
        <p:nvSpPr>
          <p:cNvPr id="11" name="Shape 8"/>
          <p:cNvSpPr/>
          <p:nvPr/>
        </p:nvSpPr>
        <p:spPr>
          <a:xfrm>
            <a:off x="4434840" y="1417320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417320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4709160" y="1417320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Rooted in set theory; core operations are erosion and dilation.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434840" y="2587752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34840" y="2587752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4709160" y="2587752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extract boundaries, skeletons, and the convex hull of shapes.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434840" y="3758184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34840" y="3758184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4709160" y="3758184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clean up binary/segmented images (remove noise, fill small gaps).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434840" y="4928616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34840" y="4928616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19"/>
          <p:cNvSpPr/>
          <p:nvPr/>
        </p:nvSpPr>
        <p:spPr>
          <a:xfrm>
            <a:off x="4709160" y="4928616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thinning a fingerprint image down to its ridge skeleton.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Processing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5213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85800"/>
            <a:ext cx="1188720" cy="11887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9601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of 10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23774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685800" y="3520440"/>
            <a:ext cx="9144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370332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 an image into its constituent regions or objects.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434840" y="594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Tasks &amp; Notes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434840" y="1097280"/>
            <a:ext cx="6949440" cy="13716"/>
          </a:xfrm>
          <a:prstGeom prst="rect">
            <a:avLst/>
          </a:prstGeom>
          <a:solidFill>
            <a:srgbClr val="C9D8DE"/>
          </a:solidFill>
          <a:ln/>
        </p:spPr>
      </p:sp>
      <p:sp>
        <p:nvSpPr>
          <p:cNvPr id="11" name="Shape 8"/>
          <p:cNvSpPr/>
          <p:nvPr/>
        </p:nvSpPr>
        <p:spPr>
          <a:xfrm>
            <a:off x="4434840" y="1417320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417320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4709160" y="1417320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difficult tasks in digital image processing.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434840" y="2587752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34840" y="2587752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4709160" y="2587752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segmentation is what determines eventual success or failure of analysis.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434840" y="3758184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34840" y="3758184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4709160" y="3758184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Rugged, well-designed segmentation gets the process closer to successful recognition.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434840" y="4928616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34840" y="4928616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19"/>
          <p:cNvSpPr/>
          <p:nvPr/>
        </p:nvSpPr>
        <p:spPr>
          <a:xfrm>
            <a:off x="4709160" y="4928616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separating a tumor region from surrounding tissue in a medical scan.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Processing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5213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85800"/>
            <a:ext cx="1188720" cy="11887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9601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of 10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23774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Representation &amp; Description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685800" y="3977640"/>
            <a:ext cx="9144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416052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segmented pixel data into a form a computer can use.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434840" y="594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Tasks &amp; Notes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434840" y="1097280"/>
            <a:ext cx="6949440" cy="13716"/>
          </a:xfrm>
          <a:prstGeom prst="rect">
            <a:avLst/>
          </a:prstGeom>
          <a:solidFill>
            <a:srgbClr val="C9D8DE"/>
          </a:solidFill>
          <a:ln/>
        </p:spPr>
      </p:sp>
      <p:sp>
        <p:nvSpPr>
          <p:cNvPr id="11" name="Shape 8"/>
          <p:cNvSpPr/>
          <p:nvPr/>
        </p:nvSpPr>
        <p:spPr>
          <a:xfrm>
            <a:off x="4434840" y="1417320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417320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4709160" y="1417320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Representation: choosing boundary-based or region-based data (shape features).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434840" y="2587752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34840" y="2587752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4709160" y="2587752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(feature selection): extracting quantitative attributes of interest.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434840" y="3758184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34840" y="3758184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4709160" y="3758184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features that are useful for differentiating one class of object from another.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434840" y="4928616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34840" y="4928616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19"/>
          <p:cNvSpPr/>
          <p:nvPr/>
        </p:nvSpPr>
        <p:spPr>
          <a:xfrm>
            <a:off x="4709160" y="4928616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describing a leaf by boundary shape, area, and texture.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Processing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5213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85800"/>
            <a:ext cx="1188720" cy="11887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9601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of 10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23774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Recognition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685800" y="3520440"/>
            <a:ext cx="9144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370332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a label to an object based on its descriptors.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434840" y="594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Tasks &amp; Notes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434840" y="1097280"/>
            <a:ext cx="6949440" cy="13716"/>
          </a:xfrm>
          <a:prstGeom prst="rect">
            <a:avLst/>
          </a:prstGeom>
          <a:solidFill>
            <a:srgbClr val="C9D8DE"/>
          </a:solidFill>
          <a:ln/>
        </p:spPr>
      </p:sp>
      <p:sp>
        <p:nvSpPr>
          <p:cNvPr id="11" name="Shape 8"/>
          <p:cNvSpPr/>
          <p:nvPr/>
        </p:nvSpPr>
        <p:spPr>
          <a:xfrm>
            <a:off x="4434840" y="1417320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417320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4709160" y="1417320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descriptors produced by the representation/description stage.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434840" y="2587752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34840" y="2587752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4709160" y="2587752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extracted features against known classes or patterns.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434840" y="3758184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34840" y="3758184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4709160" y="3758184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stage that turns pixels into meaning — e.g., "car", "face", "tumor".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434840" y="4928616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34840" y="4928616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19"/>
          <p:cNvSpPr/>
          <p:nvPr/>
        </p:nvSpPr>
        <p:spPr>
          <a:xfrm>
            <a:off x="4709160" y="4928616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an automated system tagging faces in a photo album.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Processing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5213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85800"/>
            <a:ext cx="1188720" cy="11887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9601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23774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685800" y="3520440"/>
            <a:ext cx="9144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370332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information about the problem domain, connecting every stage.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434840" y="594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Tasks &amp; Notes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434840" y="1097280"/>
            <a:ext cx="6949440" cy="13716"/>
          </a:xfrm>
          <a:prstGeom prst="rect">
            <a:avLst/>
          </a:prstGeom>
          <a:solidFill>
            <a:srgbClr val="C9D8DE"/>
          </a:solidFill>
          <a:ln/>
        </p:spPr>
      </p:sp>
      <p:sp>
        <p:nvSpPr>
          <p:cNvPr id="11" name="Shape 8"/>
          <p:cNvSpPr/>
          <p:nvPr/>
        </p:nvSpPr>
        <p:spPr>
          <a:xfrm>
            <a:off x="4434840" y="1417320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417320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4709160" y="1417320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knowledge about the problem domain (e.g., expected object shapes, region of interest).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434840" y="2587752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34840" y="2587752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4709160" y="2587752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the operation of each processing module and limits the search for solutions.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434840" y="3758184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34840" y="3758184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4709160" y="3758184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as simple as image-region detail or as complex as a full database of applications.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434840" y="4928616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34840" y="4928616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19"/>
          <p:cNvSpPr/>
          <p:nvPr/>
        </p:nvSpPr>
        <p:spPr>
          <a:xfrm>
            <a:off x="4709160" y="4928616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Interacts with, and can be updated by, any of the ten processing stages.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Processing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of an Image Processing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6459"/>
          </a:xfrm>
          <a:prstGeom prst="rect">
            <a:avLst/>
          </a:prstGeom>
          <a:solidFill>
            <a:srgbClr val="C9D8DE"/>
          </a:solidFill>
          <a:ln/>
        </p:spPr>
      </p:sp>
      <p:sp>
        <p:nvSpPr>
          <p:cNvPr id="5" name="Shape 3"/>
          <p:cNvSpPr/>
          <p:nvPr/>
        </p:nvSpPr>
        <p:spPr>
          <a:xfrm>
            <a:off x="3008833" y="16002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008833" y="1600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23233" y="2148840"/>
            <a:ext cx="0" cy="18288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31720"/>
            <a:ext cx="6749186" cy="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35024" y="2331720"/>
            <a:ext cx="0" cy="18288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0497" y="2331720"/>
            <a:ext cx="0" cy="18288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85970" y="2331720"/>
            <a:ext cx="0" cy="18288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11442" y="2331720"/>
            <a:ext cx="0" cy="18288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514600"/>
            <a:ext cx="157276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C9D8DE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51460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74113" y="2514600"/>
            <a:ext cx="1572768" cy="566928"/>
          </a:xfrm>
          <a:prstGeom prst="roundRect">
            <a:avLst>
              <a:gd name="adj" fmla="val 11290"/>
            </a:avLst>
          </a:prstGeom>
          <a:solidFill>
            <a:srgbClr val="065A82"/>
          </a:solidFill>
          <a:ln w="15875">
            <a:solidFill>
              <a:srgbClr val="065A82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274113" y="251460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99586" y="2514600"/>
            <a:ext cx="157276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C9D8DE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99586" y="251460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25058" y="2514600"/>
            <a:ext cx="157276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C9D8DE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25058" y="251460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Hardcopy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60497" y="3081528"/>
            <a:ext cx="0" cy="201168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74113" y="3282696"/>
            <a:ext cx="1572768" cy="548640"/>
          </a:xfrm>
          <a:prstGeom prst="roundRect">
            <a:avLst>
              <a:gd name="adj" fmla="val 11667"/>
            </a:avLst>
          </a:prstGeom>
          <a:solidFill>
            <a:srgbClr val="1C7293"/>
          </a:solidFill>
          <a:ln/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274113" y="3282696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060497" y="3831336"/>
            <a:ext cx="0" cy="201168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17497" y="4032504"/>
            <a:ext cx="2286000" cy="548640"/>
          </a:xfrm>
          <a:prstGeom prst="roundRect">
            <a:avLst>
              <a:gd name="adj" fmla="val 11667"/>
            </a:avLst>
          </a:prstGeom>
          <a:solidFill>
            <a:srgbClr val="0B4F73"/>
          </a:solidFill>
          <a:ln/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917497" y="40325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Image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Hardware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060497" y="4581144"/>
            <a:ext cx="0" cy="201168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74113" y="4782312"/>
            <a:ext cx="1572768" cy="548640"/>
          </a:xfrm>
          <a:prstGeom prst="roundRect">
            <a:avLst>
              <a:gd name="adj" fmla="val 11667"/>
            </a:avLst>
          </a:prstGeom>
          <a:solidFill>
            <a:srgbClr val="1C7293"/>
          </a:solidFill>
          <a:ln/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274113" y="478231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Sensors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060497" y="5330952"/>
            <a:ext cx="0" cy="201168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74113" y="5532120"/>
            <a:ext cx="1572768" cy="548640"/>
          </a:xfrm>
          <a:prstGeom prst="roundRect">
            <a:avLst>
              <a:gd name="adj" fmla="val 11667"/>
            </a:avLst>
          </a:prstGeom>
          <a:solidFill>
            <a:srgbClr val="F2A65A"/>
          </a:solidFill>
          <a:ln/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274113" y="553212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Domain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818120" y="1600200"/>
            <a:ext cx="3840480" cy="44348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C9D8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part does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046720" y="2249424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0" y="212140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Domain:  </a:t>
            </a:r>
            <a:r>
              <a:rPr lang="en-US" sz="108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real-world scene or application being imaged (the source of images).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8046720" y="2889504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0" y="276148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Sensors:  </a:t>
            </a:r>
            <a:r>
              <a:rPr lang="en-US" sz="108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devices sensing energy from the scene, paired with a digitizer.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8046720" y="3529584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0" y="340156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Hardware:  </a:t>
            </a:r>
            <a:r>
              <a:rPr lang="en-US" sz="108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dedicated hardware for primitive operations too slow for a general CPU.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8046720" y="4169664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0" y="404164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Computer:  </a:t>
            </a:r>
            <a:r>
              <a:rPr lang="en-US" sz="108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host — from a PC to a supercomputer — running the analysis.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8046720" y="4809744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0" y="468172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  </a:t>
            </a:r>
            <a:r>
              <a:rPr lang="en-US" sz="108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image data between systems; bandwidth is a key concern given image sizes.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8046720" y="5449824"/>
            <a:ext cx="82296" cy="822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46" name="Text 44"/>
          <p:cNvSpPr/>
          <p:nvPr/>
        </p:nvSpPr>
        <p:spPr>
          <a:xfrm>
            <a:off x="8229600" y="532180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Storage:  </a:t>
            </a:r>
            <a:r>
              <a:rPr lang="en-US" sz="108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large volumes of image data for short-term, on-line, and archival use.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Processing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21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02920"/>
            <a:ext cx="420624" cy="420624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1033272"/>
            <a:ext cx="420624" cy="420624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1563624"/>
            <a:ext cx="420624" cy="420624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2093976"/>
            <a:ext cx="420624" cy="420624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308592" y="502920"/>
            <a:ext cx="420624" cy="420624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308592" y="1033272"/>
            <a:ext cx="420624" cy="420624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08592" y="1563624"/>
            <a:ext cx="420624" cy="420624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308592" y="2093976"/>
            <a:ext cx="420624" cy="420624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838944" y="502920"/>
            <a:ext cx="420624" cy="420624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838944" y="1033272"/>
            <a:ext cx="420624" cy="420624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838944" y="1563624"/>
            <a:ext cx="420624" cy="420624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838944" y="2093976"/>
            <a:ext cx="420624" cy="420624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369296" y="502920"/>
            <a:ext cx="420624" cy="420624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369296" y="1033272"/>
            <a:ext cx="420624" cy="420624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369296" y="1563624"/>
            <a:ext cx="420624" cy="420624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69296" y="2093976"/>
            <a:ext cx="420624" cy="420624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899648" y="502920"/>
            <a:ext cx="420624" cy="420624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899648" y="1033272"/>
            <a:ext cx="420624" cy="420624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899648" y="1563624"/>
            <a:ext cx="420624" cy="420624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899648" y="2093976"/>
            <a:ext cx="420624" cy="420624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0" y="502920"/>
            <a:ext cx="420624" cy="420624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430000" y="1033272"/>
            <a:ext cx="420624" cy="420624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430000" y="1563624"/>
            <a:ext cx="420624" cy="420624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0" y="2093976"/>
            <a:ext cx="420624" cy="420624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4688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27" name="Text 25"/>
          <p:cNvSpPr/>
          <p:nvPr/>
        </p:nvSpPr>
        <p:spPr>
          <a:xfrm>
            <a:off x="749808" y="33375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49808" y="3977640"/>
            <a:ext cx="219456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6035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Ali Sakib  |  Dept. of CSE, PUST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1481</Words>
  <Application>Microsoft Office PowerPoint</Application>
  <PresentationFormat>Custom</PresentationFormat>
  <Paragraphs>247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Mohammad Ali Sakib</cp:lastModifiedBy>
  <cp:revision>4</cp:revision>
  <dcterms:created xsi:type="dcterms:W3CDTF">2026-09-14T20:01:35Z</dcterms:created>
  <dcterms:modified xsi:type="dcterms:W3CDTF">2026-09-15T03:37:10Z</dcterms:modified>
</cp:coreProperties>
</file>