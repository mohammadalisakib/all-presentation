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1B4B"/>
          </a:solidFill>
          <a:ln w="12700">
            <a:solidFill>
              <a:srgbClr val="021B4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48840" y="164592"/>
            <a:ext cx="1005840" cy="86868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977640" y="164592"/>
            <a:ext cx="1188720" cy="86868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806440" y="164592"/>
            <a:ext cx="1188720" cy="86868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457200" y="1115568"/>
            <a:ext cx="82296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274320" y="1170432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Conference on Power, Electronics, Communications, Computing, and Intelligent Infrastructure 2026 (PECCII 2026)</a:t>
            </a:r>
            <a:endParaRPr lang="en-US" sz="1050" dirty="0"/>
          </a:p>
        </p:txBody>
      </p:sp>
      <p:sp>
        <p:nvSpPr>
          <p:cNvPr id="8" name="Text 3"/>
          <p:cNvSpPr/>
          <p:nvPr/>
        </p:nvSpPr>
        <p:spPr>
          <a:xfrm>
            <a:off x="274320" y="16093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ID – 521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457200" y="1956816"/>
            <a:ext cx="82296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274320" y="2011680"/>
            <a:ext cx="859536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Robust, Explainable Cross-Dataset Deepfake Video Detection: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2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Attention-Pooled Face Sequences with Compression-Aware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2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UDA-DANN and Interactive GUI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274320" y="34747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7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Siam Uddin Molla Antor,  Ittihad Hasnat Tayesh,  Mohammad Ali Sakib,  Nitun Kumar Podder,  Ishrat Khan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274320" y="380390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Md. Siam Uddin Molla Antor  (1st Author &amp; Presenter)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274320" y="409651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CSE, Pabna University of Science and Technology, Pabna-6600  ·  Khulna Agricultural University, Khulna-9100, Bangladesh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57200" y="4407408"/>
            <a:ext cx="82296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74320" y="446227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17–18 June 2026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21B4B"/>
          </a:solidFill>
          <a:ln w="12700">
            <a:solidFill>
              <a:srgbClr val="021B4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B"/>
          </a:solidFill>
          <a:ln w="12700">
            <a:solidFill>
              <a:srgbClr val="02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of Contents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20624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74904" y="978408"/>
            <a:ext cx="438912" cy="310896"/>
          </a:xfrm>
          <a:prstGeom prst="roundRect">
            <a:avLst>
              <a:gd name="adj" fmla="val 14706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" y="978408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91440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1426464"/>
            <a:ext cx="420624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74904" y="1490472"/>
            <a:ext cx="438912" cy="310896"/>
          </a:xfrm>
          <a:prstGeom prst="roundRect">
            <a:avLst>
              <a:gd name="adj" fmla="val 14706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" y="1490472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426464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System Pipeline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1938528"/>
            <a:ext cx="420624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4904" y="2002536"/>
            <a:ext cx="438912" cy="310896"/>
          </a:xfrm>
          <a:prstGeom prst="roundRect">
            <a:avLst>
              <a:gd name="adj" fmla="val 14706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" y="2002536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1938528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2450592"/>
            <a:ext cx="420624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4904" y="2514600"/>
            <a:ext cx="438912" cy="310896"/>
          </a:xfrm>
          <a:prstGeom prst="roundRect">
            <a:avLst>
              <a:gd name="adj" fmla="val 14706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" y="2514600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450592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Cross-Dataset Performance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2962656"/>
            <a:ext cx="420624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4904" y="3026664"/>
            <a:ext cx="438912" cy="310896"/>
          </a:xfrm>
          <a:prstGeom prst="roundRect">
            <a:avLst>
              <a:gd name="adj" fmla="val 14706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" y="3026664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2962656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ROC Curves (CelebDF-v2, FF++, Holdout)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" y="3474720"/>
            <a:ext cx="420624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74904" y="3538728"/>
            <a:ext cx="438912" cy="310896"/>
          </a:xfrm>
          <a:prstGeom prst="roundRect">
            <a:avLst>
              <a:gd name="adj" fmla="val 14706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4904" y="3538728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347472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Ablation Study (FF++ Final500)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54880" y="914400"/>
            <a:ext cx="420624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9744" y="978408"/>
            <a:ext cx="438912" cy="310896"/>
          </a:xfrm>
          <a:prstGeom prst="roundRect">
            <a:avLst>
              <a:gd name="adj" fmla="val 14706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9744" y="978408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49240" y="91440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— Temporal Attention &amp; Grad-CAM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754880" y="1426464"/>
            <a:ext cx="420624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9744" y="1490472"/>
            <a:ext cx="438912" cy="310896"/>
          </a:xfrm>
          <a:prstGeom prst="roundRect">
            <a:avLst>
              <a:gd name="adj" fmla="val 14706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9744" y="1490472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49240" y="1426464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GUI Deployment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754880" y="1938528"/>
            <a:ext cx="420624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09744" y="2002536"/>
            <a:ext cx="438912" cy="310896"/>
          </a:xfrm>
          <a:prstGeom prst="roundRect">
            <a:avLst>
              <a:gd name="adj" fmla="val 14706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9744" y="2002536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49240" y="1938528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Prior Work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754880" y="2450592"/>
            <a:ext cx="420624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09744" y="2514600"/>
            <a:ext cx="438912" cy="310896"/>
          </a:xfrm>
          <a:prstGeom prst="roundRect">
            <a:avLst>
              <a:gd name="adj" fmla="val 14706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9744" y="2514600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49240" y="2450592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754880" y="2962656"/>
            <a:ext cx="420624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809744" y="3026664"/>
            <a:ext cx="438912" cy="310896"/>
          </a:xfrm>
          <a:prstGeom prst="roundRect">
            <a:avLst>
              <a:gd name="adj" fmla="val 14706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9744" y="3026664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349240" y="2962656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754880" y="3474720"/>
            <a:ext cx="420624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809744" y="3538728"/>
            <a:ext cx="438912" cy="310896"/>
          </a:xfrm>
          <a:prstGeom prst="roundRect">
            <a:avLst>
              <a:gd name="adj" fmla="val 14706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9744" y="3538728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349240" y="347472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B"/>
          </a:solidFill>
          <a:ln w="12700">
            <a:solidFill>
              <a:srgbClr val="02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Motivation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88920" cy="306324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788920" cy="530352"/>
          </a:xfrm>
          <a:prstGeom prst="roundRect">
            <a:avLst>
              <a:gd name="adj" fmla="val 17241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34440"/>
            <a:ext cx="2788920" cy="256032"/>
          </a:xfrm>
          <a:prstGeom prst="rect">
            <a:avLst/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The Deepfake Problem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2514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face manipulation models create hyper-realistic forged videos — threatening digital trust, enabling misinformation and identity theft.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788920" cy="306324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60120"/>
            <a:ext cx="2788920" cy="530352"/>
          </a:xfrm>
          <a:prstGeom prst="roundRect">
            <a:avLst>
              <a:gd name="adj" fmla="val 17241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234440"/>
            <a:ext cx="2788920" cy="256032"/>
          </a:xfrm>
          <a:prstGeom prst="rect">
            <a:avLst/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960120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Cross-Dataset Degradation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37560" y="1600200"/>
            <a:ext cx="2514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detectors achieve high accuracy on benchmarks but drop sharply on unseen datasets due to compression artifacts and domain-specific biases.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960120"/>
            <a:ext cx="2788920" cy="306324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960120"/>
            <a:ext cx="2788920" cy="530352"/>
          </a:xfrm>
          <a:prstGeom prst="roundRect">
            <a:avLst>
              <a:gd name="adj" fmla="val 17241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234440"/>
            <a:ext cx="2788920" cy="256032"/>
          </a:xfrm>
          <a:prstGeom prst="rect">
            <a:avLst/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960120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Our Solution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63640" y="1600200"/>
            <a:ext cx="2514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Attention-pooled face sequences + UDA-DANN domain alignment + compression-aware augmentation + Grad-CAM explainability + interactive GUI.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4133088"/>
            <a:ext cx="8595360" cy="713232"/>
          </a:xfrm>
          <a:prstGeom prst="roundRect">
            <a:avLst>
              <a:gd name="adj" fmla="val 10256"/>
            </a:avLst>
          </a:prstGeom>
          <a:solidFill>
            <a:srgbClr val="021B4B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13308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Best Result: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UDA-DANN + CompAug achieves </a:t>
            </a:r>
            <a:pPr algn="ctr" indent="0" marL="0">
              <a:buNone/>
            </a:pPr>
            <a:r>
              <a:rPr lang="en-US" sz="13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0.868, Acc = 0.774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FF++ C23 Final500 under strict Calib→Test protocol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B"/>
          </a:solidFill>
          <a:ln w="12700">
            <a:solidFill>
              <a:srgbClr val="02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System Pipeline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96112"/>
            <a:ext cx="8595360" cy="1920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56032" y="2907792"/>
            <a:ext cx="1600200" cy="1901952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2944368"/>
            <a:ext cx="457200" cy="457200"/>
          </a:xfrm>
          <a:prstGeom prst="ellipse">
            <a:avLst/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47472" y="34564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Sampling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47472" y="374904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T=16 frames uniformly sampled per video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993392" y="2907792"/>
            <a:ext cx="1600200" cy="1901952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60320" y="2944368"/>
            <a:ext cx="457200" cy="457200"/>
          </a:xfrm>
          <a:prstGeom prst="ellipse">
            <a:avLst/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6032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084832" y="34564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084832" y="374904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face detected, cropped &amp; aligned to 224×224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730752" y="2907792"/>
            <a:ext cx="1600200" cy="1901952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297680" y="2944368"/>
            <a:ext cx="457200" cy="457200"/>
          </a:xfrm>
          <a:prstGeom prst="ellipse">
            <a:avLst/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9768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822192" y="34564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Encoding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822192" y="374904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EfficientNet-B1 backbone → frame embeddings hₜ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468112" y="2907792"/>
            <a:ext cx="1600200" cy="1901952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035040" y="2944368"/>
            <a:ext cx="457200" cy="457200"/>
          </a:xfrm>
          <a:prstGeom prst="ellipse">
            <a:avLst/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3504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559552" y="34564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Pooling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559552" y="374904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attention weights αₜ → video-level vector v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205472" y="2907792"/>
            <a:ext cx="1600200" cy="1901952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772400" y="2944368"/>
            <a:ext cx="457200" cy="457200"/>
          </a:xfrm>
          <a:prstGeom prst="ellipse">
            <a:avLst/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77240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296912" y="34564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296912" y="374904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cross-entropy prediction: REAL / FAKE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B"/>
          </a:solidFill>
          <a:ln w="12700">
            <a:solidFill>
              <a:srgbClr val="02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UDA-DANN &amp; Compression-Aware Augmentation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14400"/>
            <a:ext cx="8595360" cy="2377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3429000"/>
            <a:ext cx="4251960" cy="1417320"/>
          </a:xfrm>
          <a:prstGeom prst="roundRect">
            <a:avLst>
              <a:gd name="adj" fmla="val 5161"/>
            </a:avLst>
          </a:prstGeom>
          <a:solidFill>
            <a:srgbClr val="E8F4FF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34747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UDA-DANN Domain Alignment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3767328"/>
            <a:ext cx="3977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Gradient Reversal Layer (GRL) trains domain-invariant features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Uses unlabeled FF++ target videos to reduce domain shift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Objective: L_UDA = L_cls(source) + λ · L_dom(source ∪ target)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09160" y="3429000"/>
            <a:ext cx="4160520" cy="1417320"/>
          </a:xfrm>
          <a:prstGeom prst="roundRect">
            <a:avLst>
              <a:gd name="adj" fmla="val 5161"/>
            </a:avLst>
          </a:prstGeom>
          <a:solidFill>
            <a:srgbClr val="F0FF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46320" y="34747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🗜️  Compression-Aware Augmentation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846320" y="3767328"/>
            <a:ext cx="3886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JPEG re-encoding with varying quality factors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Random down/up-sampling to simulate encoding artifacts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Mild blur — mimics real-world deployment compression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B"/>
          </a:solidFill>
          <a:ln w="12700">
            <a:solidFill>
              <a:srgbClr val="02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Description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011680" cy="1298448"/>
          </a:xfrm>
          <a:prstGeom prst="roundRect">
            <a:avLst>
              <a:gd name="adj" fmla="val 6338"/>
            </a:avLst>
          </a:prstGeom>
          <a:solidFill>
            <a:srgbClr val="0D7BE5">
              <a:alpha val="15000"/>
            </a:srgbClr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🎬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74320" y="14813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7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FaceForensics++ (FF++)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4320" y="1810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+ Target (UDA)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23160" y="1005840"/>
            <a:ext cx="45720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benchmark. Multiple manipulation types + standard compression configs (RAW / C23 / C40). Tests robustness under compression artifacts.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086600" y="1024128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909560" y="1024128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086600" y="1389888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909560" y="1389888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086600" y="1755648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909560" y="1755648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340864"/>
            <a:ext cx="859536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340864"/>
            <a:ext cx="2011680" cy="1298448"/>
          </a:xfrm>
          <a:prstGeom prst="roundRect">
            <a:avLst>
              <a:gd name="adj" fmla="val 6338"/>
            </a:avLst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43230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⭐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74320" y="29077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CelebDF-v2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74320" y="32369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 Test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23160" y="2432304"/>
            <a:ext cx="45720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High-fidelity in-the-wild deepfakes. Closer to real-world scenarios. Reveals cross-dataset generalization failures in most detectors.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86600" y="2450592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909560" y="2450592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86600" y="2816352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5,639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909560" y="2816352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086600" y="3182112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6,529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09560" y="3182112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767328"/>
            <a:ext cx="859536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767328"/>
            <a:ext cx="2011680" cy="1298448"/>
          </a:xfrm>
          <a:prstGeom prst="roundRect">
            <a:avLst>
              <a:gd name="adj" fmla="val 6338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8587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274320" y="43342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 (DeepFakeDetection)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74320" y="4663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Source Train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423160" y="3858768"/>
            <a:ext cx="45720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source domain dataset for training. Provides labeled real/fake pairs for supervised baseline and UDA source training.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86600" y="3877056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909560" y="3877056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086600" y="4242816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3,068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909560" y="4242816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086600" y="4608576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3,431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909560" y="4608576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B"/>
          </a:solidFill>
          <a:ln w="12700">
            <a:solidFill>
              <a:srgbClr val="02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Cross-Dataset Performance (τ = 0.5)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3520440"/>
        </p:xfrm>
        <a:graphic>
          <a:graphicData uri="http://schemas.openxmlformats.org/drawingml/2006/table">
            <a:tbl>
              <a:tblPr/>
              <a:tblGrid>
                <a:gridCol w="1554480"/>
                <a:gridCol w="1371600"/>
                <a:gridCol w="914400"/>
                <a:gridCol w="822960"/>
                <a:gridCol w="822960"/>
                <a:gridCol w="822960"/>
                <a:gridCol w="8229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DenseNet121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CelebDF-v2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EffNet-B0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CelebDF-v2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EffNet-B1 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CelebDF-v2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ViT-B/16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CelebDF-v2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DenseNet121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FF++ C23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EffNet-B0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FF++ C23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EffNet-B1 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FF++ C23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ViT-B/16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FF++ C23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553712"/>
            <a:ext cx="8595360" cy="347472"/>
          </a:xfrm>
          <a:prstGeom prst="roundRect">
            <a:avLst>
              <a:gd name="adj" fmla="val 18421"/>
            </a:avLst>
          </a:prstGeom>
          <a:solidFill>
            <a:srgbClr val="E8F4FF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5537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2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EfficientNet-B1 shows the most consistent cross-dataset performance on both benchmarks — selected as default backbone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B"/>
          </a:solidFill>
          <a:ln w="12700">
            <a:solidFill>
              <a:srgbClr val="02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ROC Curves (Cross-Dataset Evaluation)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914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7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— CelebDF-v2</a:t>
            </a:r>
            <a:endParaRPr lang="en-US" sz="1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1188720"/>
            <a:ext cx="2743200" cy="2560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154680" y="914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7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— FF++ C23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154680" y="1188720"/>
            <a:ext cx="2743200" cy="2560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80760" y="914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7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— FF++ Holdout (1000)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80760" y="1188720"/>
            <a:ext cx="2743200" cy="256032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74320" y="3840480"/>
            <a:ext cx="8595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274320" y="3840480"/>
            <a:ext cx="8595360" cy="475488"/>
          </a:xfrm>
          <a:prstGeom prst="roundRect">
            <a:avLst>
              <a:gd name="adj" fmla="val 19231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274320" y="4114800"/>
            <a:ext cx="8595360" cy="201168"/>
          </a:xfrm>
          <a:prstGeom prst="rect">
            <a:avLst/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365760" y="384048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Key Observations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384048" y="4407408"/>
            <a:ext cx="83759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CelebDF: EffNet-B1 achieves best AUC=0.902 — strong cross-dataset transfer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384048" y="4517136"/>
            <a:ext cx="83759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FF++ C23 (source-only): AUCs 0.610–0.647 — all struggle with compression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384048" y="4626864"/>
            <a:ext cx="83759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Holdout: UDA-DANN improves AUC from 0.625 → 0.718 over baseline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384048" y="4736592"/>
            <a:ext cx="83759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UDA-DANN curves shift upper-left — better TPR at same FPR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B"/>
          </a:solidFill>
          <a:ln w="12700">
            <a:solidFill>
              <a:srgbClr val="02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Ablation Study (FF++ Final500, Strict Calib→Test Protocol)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5029200" cy="2560320"/>
        </p:xfrm>
        <a:graphic>
          <a:graphicData uri="http://schemas.openxmlformats.org/drawingml/2006/table">
            <a:tbl>
              <a:tblPr/>
              <a:tblGrid>
                <a:gridCol w="2560320"/>
                <a:gridCol w="594360"/>
                <a:gridCol w="594360"/>
                <a:gridCol w="594360"/>
                <a:gridCol w="5943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E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(EffNet-B1)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DANN-SRC (EffNet-B1)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UDA-DANN (EffNet-B1)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UDA-DANN + CompAug 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960120"/>
            <a:ext cx="329184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577840" y="960120"/>
            <a:ext cx="3291840" cy="475488"/>
          </a:xfrm>
          <a:prstGeom prst="roundRect">
            <a:avLst>
              <a:gd name="adj" fmla="val 19231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577840" y="1234440"/>
            <a:ext cx="3291840" cy="201168"/>
          </a:xfrm>
          <a:prstGeom prst="rect">
            <a:avLst/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0" y="96012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Component Analysis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687568" y="1527048"/>
            <a:ext cx="3072384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Baseline: strong precision but poor recall — misses compressed fakes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687568" y="1925726"/>
            <a:ext cx="3072384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DANN-SRC: unstable — high precision (0.934) but very low recall (0.380)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87568" y="2324405"/>
            <a:ext cx="3072384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UDA-DANN: unlabeled target alignment improves recall +6.6% and F1 +2.7%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687568" y="2723083"/>
            <a:ext cx="3072384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UDA-DANN + CompAug: best trade-off — recall 0.909, F1 0.868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687568" y="3121762"/>
            <a:ext cx="3072384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Both target alignment AND compression augmentation are essential for robustness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65760" y="3657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Comparison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65760" y="39776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377440" y="4014216"/>
            <a:ext cx="2185507" cy="182880"/>
          </a:xfrm>
          <a:prstGeom prst="roundRect">
            <a:avLst>
              <a:gd name="adj" fmla="val 20000"/>
            </a:avLst>
          </a:prstGeom>
          <a:solidFill>
            <a:srgbClr val="4A5980"/>
          </a:solidFill>
          <a:ln w="12700">
            <a:solidFill>
              <a:srgbClr val="4A598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08667" y="39776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0.771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65760" y="42702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DANN-SRC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377440" y="4306824"/>
            <a:ext cx="1530706" cy="18288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953866" y="42702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0.540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65760" y="45628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UDA-DANN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377440" y="4599432"/>
            <a:ext cx="2301728" cy="182880"/>
          </a:xfrm>
          <a:prstGeom prst="roundRect">
            <a:avLst>
              <a:gd name="adj" fmla="val 20000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24888" y="456285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0.812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365760" y="48554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UDA-DANN+CompAug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2377440" y="4892040"/>
            <a:ext cx="2460468" cy="18288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83628" y="48554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0.868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B"/>
          </a:solidFill>
          <a:ln w="12700">
            <a:solidFill>
              <a:srgbClr val="02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— Temporal Attention &amp; Grad-CAM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Attention Weights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188720"/>
            <a:ext cx="4389120" cy="274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846320" y="914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Spatial Localization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46320" y="1188720"/>
            <a:ext cx="4023360" cy="20116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846320" y="329184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4846320" y="3291840"/>
            <a:ext cx="4023360" cy="475488"/>
          </a:xfrm>
          <a:prstGeom prst="roundRect">
            <a:avLst>
              <a:gd name="adj" fmla="val 19231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846320" y="3566160"/>
            <a:ext cx="4023360" cy="201168"/>
          </a:xfrm>
          <a:prstGeom prst="rect">
            <a:avLst/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937760" y="329184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Key Observations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956048" y="3858768"/>
            <a:ext cx="3803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 Attention weights highlight the most informative temporal frames for the final prediction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956048" y="4187952"/>
            <a:ext cx="3803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🟥  Grad-CAM localizes manipulation artifacts on high-detail facial regions (eyes, mouth, boundaries)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956048" y="4517136"/>
            <a:ext cx="3803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Failure cases occur at heavy compression, motion blur, occlusion, or poor face localization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B"/>
          </a:solidFill>
          <a:ln w="12700">
            <a:solidFill>
              <a:srgbClr val="02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GUI Deployment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60120"/>
            <a:ext cx="530352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0" y="960120"/>
            <a:ext cx="2926080" cy="38404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43600" y="960120"/>
            <a:ext cx="2926080" cy="475488"/>
          </a:xfrm>
          <a:prstGeom prst="roundRect">
            <a:avLst>
              <a:gd name="adj" fmla="val 19231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0" y="1234440"/>
            <a:ext cx="2926080" cy="201168"/>
          </a:xfrm>
          <a:prstGeom prst="rect">
            <a:avLst/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35040" y="96012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GUI Features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053328" y="1527048"/>
            <a:ext cx="2706624" cy="46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Load best model checkpoint with one click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053328" y="1994698"/>
            <a:ext cx="2706624" cy="46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Select any input video for inference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053328" y="2462349"/>
            <a:ext cx="2706624" cy="46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T=16 frame uniform sampling + face detection + EfficientNet-B1 encoding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053328" y="2929999"/>
            <a:ext cx="2706624" cy="46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Displays prediction label (REAL/FAKE) and probability score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053328" y="3397649"/>
            <a:ext cx="2706624" cy="46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👀  Shows all 16 sampled face frames visually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053328" y="3865299"/>
            <a:ext cx="2706624" cy="46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Top attention-weighted frames highlighted for interpretability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53328" y="4332950"/>
            <a:ext cx="2706624" cy="46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Grad-CAM overlays on key frames for spatial explanation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B"/>
          </a:solidFill>
          <a:ln w="12700">
            <a:solidFill>
              <a:srgbClr val="02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with Prior Work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Prior Work — FF++ → CelebDF-v2 (AUC %)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34440"/>
          <a:ext cx="4114800" cy="2377440"/>
        </p:xfrm>
        <a:graphic>
          <a:graphicData uri="http://schemas.openxmlformats.org/drawingml/2006/table">
            <a:tbl>
              <a:tblPr/>
              <a:tblGrid>
                <a:gridCol w="1828800"/>
                <a:gridCol w="731520"/>
                <a:gridCol w="155448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E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LipForensics [13]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Trained on FF++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RealForensics [18]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Trained on FF++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SBI [17]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Trained on FF++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M2TR [15]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FF++ → CelebDF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9144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This Paper — FF++ C23 (Calib500 → Final500)</a:t>
            </a:r>
            <a:endParaRPr lang="en-US" sz="12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34440"/>
          <a:ext cx="4114800" cy="2377440"/>
        </p:xfrm>
        <a:graphic>
          <a:graphicData uri="http://schemas.openxmlformats.org/drawingml/2006/table">
            <a:tbl>
              <a:tblPr/>
              <a:tblGrid>
                <a:gridCol w="1737360"/>
                <a:gridCol w="594360"/>
                <a:gridCol w="594360"/>
                <a:gridCol w="594360"/>
                <a:gridCol w="594360"/>
              </a:tblGrid>
              <a:tr h="5212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E5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(EffNet-B1)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UDA-DANN (EffNet-B1)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UDA-DANN + CompAug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3749040"/>
            <a:ext cx="8595360" cy="1097280"/>
          </a:xfrm>
          <a:prstGeom prst="roundRect">
            <a:avLst>
              <a:gd name="adj" fmla="val 7500"/>
            </a:avLst>
          </a:prstGeom>
          <a:solidFill>
            <a:srgbClr val="021B4B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Note: </a:t>
            </a:r>
            <a:pPr indent="0" marL="0">
              <a:buNone/>
            </a:pPr>
            <a:r>
              <a:rPr lang="en-US" sz="11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comparison is not possible — prior work uses AUC on FF++→CelebDF while this paper uses a strict </a:t>
            </a:r>
            <a:pPr indent="0" marL="0">
              <a:buNone/>
            </a:pPr>
            <a:r>
              <a:rPr lang="en-US" sz="115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Calib→Test protocol on FF++ C23</a:t>
            </a:r>
            <a:pPr indent="0" marL="0">
              <a:buNone/>
            </a:pPr>
            <a:r>
              <a:rPr lang="en-US" sz="11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Our UDA-DANN+CompAug achieves best compression-domain robustness with F1=0.868 under this strict evaluation.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B"/>
          </a:solidFill>
          <a:ln w="12700">
            <a:solidFill>
              <a:srgbClr val="02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32688"/>
            <a:ext cx="8503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42416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FFF5F5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42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96926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Face Detector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05840" y="120700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Haar Cascade may miss faces in challenging drone angles, motion blur, low resolution, or side-profile frames — falling back to nearest valid crop.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755648"/>
            <a:ext cx="8503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865376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FFF5F5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65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🗜️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179222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Gap Remains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05840" y="202996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UDA-DANN, source-only AUC on FF++ C23 is still moderate (0.647). Heavy compression continues to suppress manipulation traces.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578608"/>
            <a:ext cx="8503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688336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FFF5F5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688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261518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Source-Specific Training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05840" y="285292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and UDA-DANN trained primarily on DFD (balanced, laboratory setting). Generalization to fully in-the-wild, diverse environments is limited.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401568"/>
            <a:ext cx="8503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511296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FFF5F5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511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🧠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43814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Temporal Length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05840" y="367588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T=16 frame sampling may miss important manipulation artifacts in long or short videos. No adaptive temporal sampling strategy is used.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224528"/>
            <a:ext cx="8503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4334256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FFF5F5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334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⚖️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5840" y="426110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in Datasets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05840" y="449884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real/fake imbalance (e.g., CelebDF-v2: 890 real vs 5,639 fake) may bias models — balanced sampling partially mitigates this.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B"/>
          </a:solidFill>
          <a:ln w="12700">
            <a:solidFill>
              <a:srgbClr val="02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32688"/>
            <a:ext cx="8503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42416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F0FF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42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96926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Face Detector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05840" y="120700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Haar Cascade with MTCNN or RetinaFace for more robust face detection — especially in degraded, occluded, or side-profile frames.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755648"/>
            <a:ext cx="8503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865376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F0FF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65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⏱️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179222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Temporal Sampling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05840" y="202996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beyond fixed T=16 — learn optimal frame selection to capture manipulation artifacts more effectively across varying video lengths.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578608"/>
            <a:ext cx="8503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688336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F0FF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688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📡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261518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Domain Adaptation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05840" y="285292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UDA-DANN to leverage multiple unlabeled target domains simultaneously — improving generalization beyond a single compression setting.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401568"/>
            <a:ext cx="8503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511296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F0FF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511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43814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&amp; Social Media Deepfakes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05840" y="367588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social-media-compressed videos (YouTube, WhatsApp) to test robustness in truly in-the-wild deployment scenarios.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224528"/>
            <a:ext cx="8503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4334256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F0FF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334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5840" y="426110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Detection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05840" y="449884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audio-visual inconsistencies and physiological signals (rPPG) alongside visual skeleton features for richer forgery evidence.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B"/>
          </a:solidFill>
          <a:ln w="12700">
            <a:solidFill>
              <a:srgbClr val="02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A. Rössler et al., "FaceForensics++: Learning to detect manipulated facial images," ICCV, 2019.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126187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Y. Li et al., "Celeb-DF: A large-scale challenging dataset for deepfake forensics," CVPR, 2020.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1609344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B. Dolhansky et al., "The deepfake detection challenge (DFDC) dataset," arXiv:2006.07397, 2020.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956816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Y. Ganin &amp; V. Lempitsky, "Unsupervised domain adaptation by backpropagation," ICML, 2015.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2304288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R. R. Selvaraju et al., "Grad-CAM: Visual explanations via gradient-based localization," ICCV, 2017.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2651760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Y. Li &amp; S. Lyu, "Exposing deepfake videos by detecting face warping artifacts," CVPRW, 2019.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299923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H. H. Nguyen et al., "Capsule-forensics: Capsule networks for forged image detection," ICASSP, 2019.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09160" y="914400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I. Masi et al., "Two-branch recurrent network for isolating deepfakes in videos," ECCV, 2020.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09160" y="126187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H. Qi et al., "DeepRhythm: Exposing deepfakes with attentional visual heartbeat," ACM MM, 2020.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09160" y="1609344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A. Haliassos et al., "Lips don't lie: Generalisable approach to face forgery detection," CVPR, 2021.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09160" y="1956816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[15] J. Wang et al., "M2TR: Multi-modal multi-scale transformers for deepfake detection," arXiv, 2021.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09160" y="2304288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[16] Z. Yan et al., "Generalizing deepfake detection with plug-and-play spatiotemporal adapters," CVPR, 2025.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09160" y="2651760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[17] K. Shiohara &amp; T. Yamasaki, "Detecting deepfakes with self-blended images," CVPR, 2022.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09160" y="299923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[18] A. Haliassos et al., "Leveraging real talking faces via self-supervision for robust forgery detection," CVPR, 2022.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4681728"/>
            <a:ext cx="8503920" cy="274320"/>
          </a:xfrm>
          <a:prstGeom prst="roundRect">
            <a:avLst>
              <a:gd name="adj" fmla="val 20000"/>
            </a:avLst>
          </a:prstGeom>
          <a:solidFill>
            <a:srgbClr val="E8F4FF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6817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reference list available in the conference paper — PECCII 2026, PUST, Pabna, Bangladesh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0" y="822960"/>
            <a:ext cx="4572000" cy="36576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8412480" cy="576072"/>
          </a:xfrm>
          <a:prstGeom prst="roundRect">
            <a:avLst>
              <a:gd name="adj" fmla="val 12698"/>
            </a:avLst>
          </a:prstGeom>
          <a:solidFill>
            <a:srgbClr val="0D7BE5">
              <a:alpha val="22000"/>
            </a:srgbClr>
          </a:solidFill>
          <a:ln w="6350">
            <a:solidFill>
              <a:srgbClr val="00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78408"/>
            <a:ext cx="8046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 Novel face-centric pipeline: T=16 uniform sampling → EfficientNet-B1 → temporal attention pooling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8412480" cy="576072"/>
          </a:xfrm>
          <a:prstGeom prst="roundRect">
            <a:avLst>
              <a:gd name="adj" fmla="val 12698"/>
            </a:avLst>
          </a:prstGeom>
          <a:solidFill>
            <a:srgbClr val="0D7BE5">
              <a:alpha val="22000"/>
            </a:srgbClr>
          </a:solidFill>
          <a:ln w="6350">
            <a:solidFill>
              <a:srgbClr val="00C4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64208"/>
            <a:ext cx="8046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 UDA-DANN with gradient reversal effectively reduces compression-driven domain shift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8412480" cy="576072"/>
          </a:xfrm>
          <a:prstGeom prst="roundRect">
            <a:avLst>
              <a:gd name="adj" fmla="val 12698"/>
            </a:avLst>
          </a:prstGeom>
          <a:solidFill>
            <a:srgbClr val="0D7BE5">
              <a:alpha val="22000"/>
            </a:srgbClr>
          </a:solidFill>
          <a:ln w="6350">
            <a:solidFill>
              <a:srgbClr val="00C4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50008"/>
            <a:ext cx="8046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🗜️   Compression-aware augmentation (JPEG/resize/blur) further boosts recall and robustness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3017520"/>
            <a:ext cx="8412480" cy="576072"/>
          </a:xfrm>
          <a:prstGeom prst="roundRect">
            <a:avLst>
              <a:gd name="adj" fmla="val 12698"/>
            </a:avLst>
          </a:prstGeom>
          <a:solidFill>
            <a:srgbClr val="0D7BE5">
              <a:alpha val="22000"/>
            </a:srgbClr>
          </a:solidFill>
          <a:ln w="6350">
            <a:solidFill>
              <a:srgbClr val="00C4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35808"/>
            <a:ext cx="8046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 Best result: UDA-DANN + CompAug — Acc 0.774, F1 0.868 on FF++ C23 under strict Calib→Test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3703320"/>
            <a:ext cx="8412480" cy="576072"/>
          </a:xfrm>
          <a:prstGeom prst="roundRect">
            <a:avLst>
              <a:gd name="adj" fmla="val 12698"/>
            </a:avLst>
          </a:prstGeom>
          <a:solidFill>
            <a:srgbClr val="0D7BE5">
              <a:alpha val="22000"/>
            </a:srgbClr>
          </a:solidFill>
          <a:ln w="6350">
            <a:solidFill>
              <a:srgbClr val="00C4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721608"/>
            <a:ext cx="8046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 Grad-CAM + temporal attention provide interpretable spatial and temporal explanations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4389120"/>
            <a:ext cx="8412480" cy="576072"/>
          </a:xfrm>
          <a:prstGeom prst="roundRect">
            <a:avLst>
              <a:gd name="adj" fmla="val 12698"/>
            </a:avLst>
          </a:prstGeom>
          <a:solidFill>
            <a:srgbClr val="0D7BE5">
              <a:alpha val="22000"/>
            </a:srgbClr>
          </a:solidFill>
          <a:ln w="6350">
            <a:solidFill>
              <a:srgbClr val="00C4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407408"/>
            <a:ext cx="8046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 Interactive GUI enables practical real-world video-level inference and visualization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468880" y="201168"/>
            <a:ext cx="822960" cy="713232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977640" y="201168"/>
            <a:ext cx="1188720" cy="713232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486400" y="201168"/>
            <a:ext cx="1280160" cy="713232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57200" y="109728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7" name="Shape 2"/>
          <p:cNvSpPr/>
          <p:nvPr/>
        </p:nvSpPr>
        <p:spPr>
          <a:xfrm>
            <a:off x="2286000" y="2029968"/>
            <a:ext cx="4572000" cy="36576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548640" y="2103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Robust, Explainable Cross-Dataset Deepfake Video Detection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2011680" y="2724912"/>
            <a:ext cx="5120640" cy="1508760"/>
          </a:xfrm>
          <a:prstGeom prst="roundRect">
            <a:avLst>
              <a:gd name="adj" fmla="val 7273"/>
            </a:avLst>
          </a:prstGeom>
          <a:solidFill>
            <a:srgbClr val="0D7BE5">
              <a:alpha val="25000"/>
            </a:srgbClr>
          </a:solidFill>
          <a:ln w="19050">
            <a:solidFill>
              <a:srgbClr val="00C4B4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2148840" y="279806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2148840" y="303580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Md. Siam Uddin Molla Antor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2148840" y="34290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CSE, Pabna University of Science and Technology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2148840" y="371246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siam.210112@s.pust.ac.bd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457200" y="4681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PECCII 2026  •  17–18 June 2026  •  PUST, Pabna, Bangladesh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2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Questions?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2286000" y="1993392"/>
            <a:ext cx="4572000" cy="36576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2212848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0D7BE5">
              <a:alpha val="30000"/>
            </a:srgbClr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225856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 = 0.868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27614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 Score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66160" y="2212848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0D7BE5">
              <a:alpha val="30000"/>
            </a:srgbClr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225856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0.718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66160" y="27614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UDA-DANN Holdout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2212848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0D7BE5">
              <a:alpha val="30000"/>
            </a:srgbClr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225856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= 16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43600" y="27614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/ Video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42900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free to ask about the methodology, UDA-DANN training, explainability, or GUI!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011680" y="3950208"/>
            <a:ext cx="5120640" cy="731520"/>
          </a:xfrm>
          <a:prstGeom prst="roundRect">
            <a:avLst>
              <a:gd name="adj" fmla="val 12500"/>
            </a:avLst>
          </a:prstGeom>
          <a:solidFill>
            <a:srgbClr val="0D7BE5">
              <a:alpha val="25000"/>
            </a:srgbClr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395020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Siam Uddin Molla Antor   |   siam.210112@s.pust.ac.bd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2026-06-10T04:20:03Z</dcterms:created>
  <dcterms:modified xsi:type="dcterms:W3CDTF">2026-06-10T04:20:03Z</dcterms:modified>
</cp:coreProperties>
</file>