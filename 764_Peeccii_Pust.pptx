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56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48840" y="164592"/>
            <a:ext cx="1005840" cy="8686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77640" y="164592"/>
            <a:ext cx="1188720" cy="86868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06440" y="164592"/>
            <a:ext cx="1188720" cy="8686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74320" y="11704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Power, Electronics, Communications, Computing, and Intelligent Infrastructure 2026 (PECCII 2026)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274320" y="16276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– </a:t>
            </a:r>
            <a:r>
              <a:rPr lang="en-US" sz="13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764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57200" y="19659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74320" y="201168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 Learning Framework for Skeleton-Based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Recognition from Drone Videos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274320" y="33649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 Sakib,  Rafiu Mollick,  Md Redwan Hussain,  Md. Zillur Rahaman,  Md. Abdullah Al Mahim,  Nakib Aman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274320" y="37307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Mohammad Ali Sakib  (1st Author &amp; Presenter)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40416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Engineering, Pabna University of Science and Technology, Pabna-6600, Bangladesh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43891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17–18 June 2026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941832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418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367028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" y="1412748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4127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670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837944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" y="1883664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8366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1837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Workflow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308860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" y="2354580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3545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23088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" y="2825496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282549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7797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Classification Performance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250692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" y="3296412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329641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32506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721608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" y="3767328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76732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37216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Curves (Accuracy &amp; Loss)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896112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941832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94183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0" y="896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Precision-Recall &amp; ROC Curves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1367028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9744" y="1412748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14127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03520" y="13670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Methods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1837944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9744" y="1883664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188366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3520" y="18379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2308860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9744" y="2354580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23545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03520" y="23088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2779776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9744" y="2825496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2825496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303520" y="27797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754880" y="3250692"/>
            <a:ext cx="42062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9744" y="3296412"/>
            <a:ext cx="402336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329641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03520" y="32506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Gait-Based 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can be captured remotely without subject cooperation — ideal for surveillance, security, and healthcare monitoring.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Drone-Based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642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cameras miss top-down/oblique views. Drones enable open-area aerial gait capture — a novel contribution.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74320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05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 Skeleton Representation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642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Skeleton-based processing reduces effects of lighting, background, and clothing — preserving only movement and joint dynamics.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8F4FF"/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Classify gender from drone-captured aerial gait video using EfficientNet-B0 on skeleton stickman images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Summary of Existing Methods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3072384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3566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&amp; Verma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LSVM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 et al. (2009)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+ Dynamic Gait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Kwon &amp; Lee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Swing Energy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93–95%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 et al.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Frame-level Skeleton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&amp; Sabir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Kinect Gait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Alrashed &amp; Inan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CNN + Face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Nutakki et al. (2018)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Torque Analysis +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65760" y="4206240"/>
            <a:ext cx="8412480" cy="1005840"/>
          </a:xfrm>
          <a:prstGeom prst="roundRect">
            <a:avLst>
              <a:gd name="adj" fmla="val 8182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06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Research Gap &amp; Focus: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methods use ground-based, frontal/lateral-view data (CASIA-B, Kinect, GEI) with controlled conditions. </a:t>
            </a:r>
            <a:r>
              <a:rPr lang="en-US" sz="11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address top-down/oblique aerial gait captured by drones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our work targets this gap by combining skeleton-based privacy-preserving extraction with drone-specific challenges (altitude, motion, outdoor lighting).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1498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14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videos at PUST campus. 4,680 skeleton images labeled male/female.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Pose: 33 landmarks/frame → color-coded stickman images.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224×224px, normalize. Augment: flip, rotate ±15°, color jitter, affine.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Stratified: 70% Train / 15% Validation / 15% Test.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261872"/>
            <a:ext cx="4114800" cy="2103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754880" y="3520440"/>
            <a:ext cx="4114800" cy="1261872"/>
          </a:xfrm>
          <a:prstGeom prst="roundRect">
            <a:avLst>
              <a:gd name="adj" fmla="val 5797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Privacy-Preserving Pipeline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919472" y="38770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removed → skeleton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or personal identity data retained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surveillance application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— EfficientNet-B0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291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σ( W · D( f_EfficientB0(X) ) + b 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3291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472" y="33101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19472" y="35112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9472" y="39044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19472" y="410565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4480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19472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19472" y="47000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3291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31152" y="33101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31152" y="35112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31152" y="39044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31152" y="410565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0" y="4480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31152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31152" y="47000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 / Girls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Classification Performance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023360" cy="185928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868680"/>
            <a:ext cx="429768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108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EfficientNet-B0: 92% across all metrics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MobileNetV3 &amp; ResNet18: ~77–78%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DenseNet121: only 73%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EfficientNet-B0 clearly outperforms all baselines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Confusion Matrix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411480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914400"/>
            <a:ext cx="3749040" cy="3886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914400"/>
            <a:ext cx="3749040" cy="502920"/>
          </a:xfrm>
          <a:prstGeom prst="roundRect">
            <a:avLst>
              <a:gd name="adj" fmla="val 18182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20640" y="1207008"/>
            <a:ext cx="3749040" cy="21031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6636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85232" y="153619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342 / 372 boys correctly classified (91.9%)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85232" y="208483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304 / 330 girls correctly classified (92.1%)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85232" y="263347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Only 30 boys misclassified as girls (8.1%)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85232" y="318211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Only 26 girls misclassified as boys (7.9%)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85232" y="373075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Balanced — model not biased toward either class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85232" y="427939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Large diagonal values confirm strong skeleton feature discrimination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Training &amp; Validation Accuracy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207008"/>
            <a:ext cx="3063240" cy="21031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914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15361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Starts ~69%, rises steeply in first 10 epochs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21945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Converges above 92% from epoch 15 onwards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2852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Train, Val &amp; Test curves closely aligned — minimal overfitting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5112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Consistent test accuracy proves strong generalization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16966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Cosine Annealing LR ensures smooth convergence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Training Loss Curve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207008"/>
            <a:ext cx="3063240" cy="21031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914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15361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drops from ~0.62 to ~0.30 — continuous healthy decline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21945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Train, Val &amp; Test loss converge — no divergence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2852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Final convergence at ~0.30 for all splits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5112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Label smoothing (0.1) prevents overconfidence and loss spikes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16966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Smooth decline confirms stable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Precision-Recall Curve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207008"/>
            <a:ext cx="3063240" cy="21031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914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15361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High precision at most recall levels (&gt;0.90) for both classes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21945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 Boys: more stable PR curve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2852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👧  Girls: slight precision drop at very high recall — acceptable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5112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No severe class imbalance or disproportionate misclassification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16966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Properly calibrated — reliable trade-off at all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ROC Curve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502920"/>
          </a:xfrm>
          <a:prstGeom prst="roundRect">
            <a:avLst>
              <a:gd name="adj" fmla="val 18182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207008"/>
            <a:ext cx="3063240" cy="21031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914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15361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AUC = 0.982 for both Boys and Girls — near-perfect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21945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Micro-avg AUC = 0.983, Macro-avg = 0.982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2852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Curves hug upper-left — high TPR with very low FPR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35112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Minimal gap between classes — no decision boundary bias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416966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Reliable across diverse thresholds — ready for real-world use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Methods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907792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1554480"/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Kitchat et al.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Gait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Silhouette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Bekhouch et al.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Gait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+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et al.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GEI-Based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Two-Stream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&amp; Verma 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LSVM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Drone-Based (Custom)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07408"/>
            <a:ext cx="8412480" cy="530352"/>
          </a:xfrm>
          <a:prstGeom prst="roundRect">
            <a:avLst>
              <a:gd name="adj" fmla="val 12069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40740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Our model achieves 92% on challenging drone-captured aerial footage — no existing benchmark contains this data type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Single-Environment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only at PUST campus — limited demographic and environmental diversity may reduce generalization to other settings.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Pose Estimation Only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2D landmarks. Depth information is not captured, limiting the richness of skeletal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Drone-Specific Challenges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perspective, varying altitudes, camera movement, smaller subject scale, and outdoor lighting affect skeleton extraction quality.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⚧️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only distinguishes male vs. female. Non-binary or multi-class identity scenarios are not addressed.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Cross-Domain Generalization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not tested on established benchmark datasets (CASIA-B, OULP), making direct comparison challenging.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drone footage from diverse campuses, cities, and demographics to improve robustness and generalizability.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Pose &amp; Temporal Modeling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3D skeleton data and temporal sequence models (LSTM, Transformer) to capture motion dynamics over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Drone Integration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onboard drones for real-time inference — enabling live surveillance and crowd monitoring applications.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Fusion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inertial sensor data (accelerometer/gyroscope) with visual skeleton features for richer gait representation.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Human Analysis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binary gender — incorporate age estimation, gait-based identity recognition, and activity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Azhar et al., "A gait-based real-time gender classification system," Sensors, vol. 22, no. 23, 2022.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3624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K. Kitchat et al., "Gender classification from gait silhouette using GEIs," IEEE CIS &amp; RAM, 2019.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764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Bekhouch et al., "Few skeleton features for gait-based gender recognition," IEEE IPAS, 2025.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167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R. Delgado-Escano et al., "Multi-task and fusion CNN for inertial-based gait recognition," IEEE Access, 2018.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569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B. Sun et al., "Gender recognition via fused silhouette features," IEEE Sensors Journal, 2019.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D. Kumar &amp; R. Verma, "Walking patterns and gender: CNN+LSVM framework," CYBERCOM, 2024.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9601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Yu et al., "A study on gait-based gender classification," IEEE Trans. Image Processing, 2009.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13624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B. Kwon &amp; S. Lee, "Joint swing energy for skeleton-based gender classification," IEEE Access, 2021.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1764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S. Choi et al., "Skeleton-based gait recognition via robust frame-level matching," IEEE Trans. IFS, 2019.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A. Alrashed &amp; T. Inan, "Age and gender detection by face segmentation and modified CNN," HORA, 2023.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569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C. Nutakki et al., "Torque analysis of male-female gait using ML," ICACCI, 2018.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8503920" cy="292608"/>
          </a:xfrm>
          <a:prstGeom prst="roundRect">
            <a:avLst>
              <a:gd name="adj" fmla="val 18750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 available in the conference paper — PECCII 2026, PUST, Pabna, Bangladesh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822960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  First work applying skeleton gait analysis to drone-captured aerial footage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28216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 EfficientNet-B0 achieved 92% accuracy — outperforming CNN, MobileNetV3, ResNet18, DenseNet121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59736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7802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 MediaPipe-based privacy-preserving extraction — no personal identity data retained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09544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2783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 Applicable to surveillance, crowd analytics &amp; biometric intelligence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59352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7764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 Foundation for future multi-modal, real-time drone-based human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80" y="201168"/>
            <a:ext cx="822960" cy="71323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77640" y="201168"/>
            <a:ext cx="1188720" cy="71323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0" y="201168"/>
            <a:ext cx="1280160" cy="7132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2286000" y="2084832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21762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Framework for Skeleton-Based Gender Recognition from Drone Videos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2011680" y="2834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0D7BE5">
              <a:alpha val="25000"/>
            </a:srgbClr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148840" y="2907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148840" y="3154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Mohammad Ali Sakib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148840" y="3547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Pabna University of Science and Technology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148840" y="38221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sakib.cse04@gmail.com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PECCII 2026  •  17–18 June 2026  •  PUST, Pabna, Bangladesh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2121408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774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3774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331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774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4,680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about the methodology, dataset, model, or results!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011680" y="4096512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0D7BE5">
              <a:alpha val="2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409651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 Sakib   |   sakib.cse04@gmail.com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1609</Words>
  <Application>Microsoft Office PowerPoint</Application>
  <PresentationFormat>On-screen Show (16:9)</PresentationFormat>
  <Paragraphs>283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Framework for Skeleton-Based Gender Recognition</dc:title>
  <dc:subject>PptxGenJS Presentation</dc:subject>
  <dc:creator>PptxGenJS</dc:creator>
  <cp:lastModifiedBy>Ali</cp:lastModifiedBy>
  <cp:revision>2</cp:revision>
  <dcterms:created xsi:type="dcterms:W3CDTF">2026-06-17T09:11:28Z</dcterms:created>
  <dcterms:modified xsi:type="dcterms:W3CDTF">2026-06-17T09:16:43Z</dcterms:modified>
</cp:coreProperties>
</file>