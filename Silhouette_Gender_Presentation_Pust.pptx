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148840" y="164592"/>
            <a:ext cx="1005840" cy="8686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164592"/>
            <a:ext cx="1188720" cy="86868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806440" y="164592"/>
            <a:ext cx="1188720" cy="86868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457200" y="1115568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274320" y="1170432"/>
            <a:ext cx="8595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Conference on Power, Electronics, Communications, Computing, and Intelligent Infrastructure 2026 (PECCII 2026)</a:t>
            </a:r>
            <a:endParaRPr lang="en-US" sz="1050" dirty="0"/>
          </a:p>
        </p:txBody>
      </p:sp>
      <p:sp>
        <p:nvSpPr>
          <p:cNvPr id="8" name="Text 3"/>
          <p:cNvSpPr/>
          <p:nvPr/>
        </p:nvSpPr>
        <p:spPr>
          <a:xfrm>
            <a:off x="274320" y="1609344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ID – 538</a:t>
            </a:r>
            <a:endParaRPr lang="en-US" sz="1300" dirty="0"/>
          </a:p>
        </p:txBody>
      </p:sp>
      <p:sp>
        <p:nvSpPr>
          <p:cNvPr id="9" name="Shape 4"/>
          <p:cNvSpPr/>
          <p:nvPr/>
        </p:nvSpPr>
        <p:spPr>
          <a:xfrm>
            <a:off x="457200" y="1956816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74320" y="2011680"/>
            <a:ext cx="85953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Deep Learning Approach to Silhouette-Based</a:t>
            </a:r>
            <a:endParaRPr lang="en-US" sz="26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02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Gender Classification from Aerial Gait Videos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274320" y="3319272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Abdullah Al Mahim,  Zareen Tasnim,  Mohammad Ali Sakib,  Nakib Aman,  Md. Shah Alom,  Touhid Hossain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274320" y="36576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Md. Abdullah Al Mahim  (1st Author &amp; Presenter)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74320" y="395020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Pabna University of Science and Technology, Pabna-6600, Bangladesh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57200" y="4261104"/>
            <a:ext cx="822960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74320" y="4315968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17–18 June 2026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74904" y="97840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74904" y="9784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914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&amp; Motivation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0040" y="1426464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74904" y="14904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" y="1490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4264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System Workflow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0040" y="193852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74904" y="2002536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74904" y="2002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19385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Architecture — EfficientNet-B0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450592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4904" y="2514600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74904" y="25146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24505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Classification Performance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0040" y="296265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74904" y="3026664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74904" y="302666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4400" y="29626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Confusion Matrix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347472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74904" y="353872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4904" y="35387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4400" y="34747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Training Accuracy Curve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91440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9744" y="97840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9744" y="97840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49240" y="91440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Loss Curve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4754880" y="1426464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9744" y="1490472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09744" y="1490472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349240" y="142646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Precision-Recall &amp; ROC Curves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4754880" y="1938528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09744" y="2002536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09744" y="2002536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349240" y="19385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with Existing Methods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4754880" y="2450592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809744" y="2514600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9744" y="2514600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349240" y="245059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4754880" y="2962656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809744" y="3026664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09744" y="3026664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349240" y="29626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4754880" y="3474720"/>
            <a:ext cx="420624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4809744" y="3538728"/>
            <a:ext cx="438912" cy="310896"/>
          </a:xfrm>
          <a:prstGeom prst="roundRect">
            <a:avLst>
              <a:gd name="adj" fmla="val 14706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09744" y="353872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49240" y="34747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&amp; Motivation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🚶  Gait Biometrics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1148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Gait can be recorded remotely without subject cooperation — ideal for surveillance, security, forensic investigation, and smart environments.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Silhouette Approach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33756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Silhouettes store only body shape and contour — no texture or face features. Privacy-preserving and computationally inexpensive for gender classification.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788920" cy="306324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26480" y="960120"/>
            <a:ext cx="2788920" cy="530352"/>
          </a:xfrm>
          <a:prstGeom prst="roundRect">
            <a:avLst>
              <a:gd name="adj" fmla="val 1724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234440"/>
            <a:ext cx="2788920" cy="256032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960120"/>
            <a:ext cx="2788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Deep Learning Advantage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263640" y="1600200"/>
            <a:ext cx="2514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CNNs automatically learn hierarchical discriminative features from silhouette data, overcoming limitations of handcrafted descriptors and manual classifiers.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133088"/>
            <a:ext cx="8595360" cy="713232"/>
          </a:xfrm>
          <a:prstGeom prst="roundRect">
            <a:avLst>
              <a:gd name="adj" fmla="val 10256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133088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Result: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EfficientNet-B0 achieves </a:t>
            </a:r>
            <a:pPr algn="ctr" indent="0" marL="0">
              <a:buNone/>
            </a:pPr>
            <a:r>
              <a:rPr lang="en-US" sz="13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97.14% test accuracy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on self-collected drone-captured silhouette gait images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System Workflow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1498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149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9601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23444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Drone-captured outdoor videos at PUST campus. 30 subjects (20 male, 10 female). 6,760 silhouette images extracted.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4320" y="197510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7510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41248" y="19202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Extraction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41248" y="219456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segmentation isolates human body — removes face, clothing texture &amp; identity-related information.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4320" y="293522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2935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15468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224×224px, ImageNet normalization. Augment: flip, rotate ±15°, brightness/contrast jitter, affine transforms.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3895344"/>
            <a:ext cx="438912" cy="438912"/>
          </a:xfrm>
          <a:prstGeom prst="ellipse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8953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8404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Split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1248" y="4114800"/>
            <a:ext cx="3840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70% Train / 15% Validation / 15% Test. 4,663 male + 2,097 female silhouettes.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960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12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754880" y="1261872"/>
            <a:ext cx="4114800" cy="210312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4754880" y="3520440"/>
            <a:ext cx="4114800" cy="1261872"/>
          </a:xfrm>
          <a:prstGeom prst="roundRect">
            <a:avLst>
              <a:gd name="adj" fmla="val 5797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19472" y="3566160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Privacy-Preserving Design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919472" y="3858768"/>
            <a:ext cx="3749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facial or texture information retained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Silhouette = body shape &amp; contour only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Compliant with privacy-safe surveillance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Architecture — EfficientNet-B0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8595360" cy="2240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3291840"/>
            <a:ext cx="4114800" cy="640080"/>
          </a:xfrm>
          <a:prstGeom prst="roundRect">
            <a:avLst>
              <a:gd name="adj" fmla="val 11429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2918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4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ŷ = σ( W · D( f_EfficientB0(X) ) + b 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846320" y="3291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919472" y="33101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4919472" y="35112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AdamW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84632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919472" y="39044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 Scheduler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919472" y="410565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Annealing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846320" y="4480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919472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Smoothing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919472" y="47000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858000" y="329184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931152" y="331012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6931152" y="351129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858000" y="388620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931152" y="39044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6931152" y="410565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858000" y="4480560"/>
            <a:ext cx="182880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6931152" y="449884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Size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931152" y="4700016"/>
            <a:ext cx="16824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224 × 224 px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Classification Performance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4114800" cy="2011680"/>
        </p:xfrm>
        <a:graphic>
          <a:graphicData uri="http://schemas.openxmlformats.org/drawingml/2006/table">
            <a:tbl>
              <a:tblPr/>
              <a:tblGrid>
                <a:gridCol w="1097280"/>
                <a:gridCol w="731520"/>
                <a:gridCol w="731520"/>
                <a:gridCol w="731520"/>
                <a:gridCol w="73152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Women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Overall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1014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0" y="868680"/>
            <a:ext cx="4297680" cy="27432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65760" y="3063240"/>
            <a:ext cx="4114800" cy="1737360"/>
          </a:xfrm>
          <a:prstGeom prst="roundRect">
            <a:avLst>
              <a:gd name="adj" fmla="val 4211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3108960"/>
            <a:ext cx="37490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02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EfficientNet-B0: 97% across all metrics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MobileNetV3: 87% — competitive but lower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DenseNet121: only 79% F1-score
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EfficientNet-B0 clearly outperforms all baselines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Confusion Matrix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914400"/>
            <a:ext cx="411480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120640" y="914400"/>
            <a:ext cx="3749040" cy="388620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20640" y="914400"/>
            <a:ext cx="374904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120640" y="1188720"/>
            <a:ext cx="374904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212080" y="91440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230368" y="1481328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683 / 699 men correctly classified (97.7%)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230368" y="2034540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303 / 315 women correctly classified (96.2%)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230368" y="2587752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Only 16 men misclassified as women (2.3%)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230368" y="3140964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🔵  Only 12 women misclassified as men (3.8%)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230368" y="3694176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Balanced performance — model not biased toward either class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230368" y="4247388"/>
            <a:ext cx="3529584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Large diagonal values confirm strong silhouette feature discrimination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Training &amp; Validation Accuracy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188720"/>
            <a:ext cx="306324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9144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61888" y="1481328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Starts ~83%, rises steeply in first 5 epochs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61888" y="2145182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Converges at ~97–98% from epoch 10 onwards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61888" y="2809037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Train, Val &amp; Test curves closely aligned — minimal overfitting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61888" y="3472891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Consistent test accuracy 95–97% confirms strong generalization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61888" y="4136746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Cosine Annealing LR scheduler ensures smooth, stable convergence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Training Loss Curve</a:t>
            </a:r>
            <a:endParaRPr lang="en-US" sz="24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914400"/>
            <a:ext cx="5394960" cy="3886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852160" y="914400"/>
            <a:ext cx="3063240" cy="388620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27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852160" y="914400"/>
            <a:ext cx="3063240" cy="475488"/>
          </a:xfrm>
          <a:prstGeom prst="roundRect">
            <a:avLst>
              <a:gd name="adj" fmla="val 19231"/>
            </a:avLst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852160" y="1188720"/>
            <a:ext cx="3063240" cy="201168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91440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Key Observations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961888" y="1481328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Loss drops sharply from ~0.45 to ~0.22 — rapid healthy decline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61888" y="2145182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 Train, Val &amp; Test loss converge closely — no divergence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961888" y="2809037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  Converges at ~0.22 for all splits after epoch 20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961888" y="3472891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 Label smoothing (0.1) prevents overconfidence and loss spikes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961888" y="4136746"/>
            <a:ext cx="2843784" cy="6638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Smooth, stable decline confirms correct optimization dynamics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— Precision-Recall &amp; ROC Curves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Curve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207008"/>
            <a:ext cx="4023360" cy="2926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0" y="91440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7B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Curve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572000" y="1207008"/>
            <a:ext cx="4297680" cy="29260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74320" y="4251960"/>
            <a:ext cx="8595360" cy="594360"/>
          </a:xfrm>
          <a:prstGeom prst="roundRect">
            <a:avLst>
              <a:gd name="adj" fmla="val 12308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AUC = 0.994 (Men &amp; Women)   | 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Micro-avg AUC = 0.996   |  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Macro-avg AUC = 0.994   |   </a:t>
            </a:r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hug upper-left — near-perfect discrimination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Existing Silhouette-Based Methods</a:t>
            </a:r>
            <a:endParaRPr lang="en-US" sz="24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  <a:gridCol w="2651760"/>
                <a:gridCol w="11887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 (%)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7BE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Hou et al. [2] (2022)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Gait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CNN-based Silhouette Classification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90.74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Baghezza et al. [5]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GEI Benchmark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Two-Stream CNN (GEI + sub-GEI)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Ahammed et al. [6] (2021)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 Silhouette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Hybrid CNN–LSVM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(Ours)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Silhouette Image Dataset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D7BE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EfficientNet-B0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97.14%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D5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822192"/>
            <a:ext cx="8412480" cy="1024128"/>
          </a:xfrm>
          <a:prstGeom prst="roundRect">
            <a:avLst>
              <a:gd name="adj" fmla="val 8036"/>
            </a:avLst>
          </a:prstGeom>
          <a:solidFill>
            <a:srgbClr val="021B4B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3822192"/>
            <a:ext cx="8046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Why EfficientNet-B0 wins: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scaling (depth × width × resolution) provides a systematic balance that extracts fine-grained structural and motion features from silhouette inputs. Unlike uniform CNN scaling, EfficientNet achieves higher representational capacity </a:t>
            </a:r>
            <a:pPr indent="0" marL="0">
              <a:buNone/>
            </a:pPr>
            <a:r>
              <a:rPr lang="en-US" sz="1150" b="1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significantly increasing parameters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resulting in better generalization and consistent convergence.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Self-Collected Dataset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30 subjects (20 male, 10 female) from a single university campus — limited demographic diversity and environmental variability.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Cross-Dataset Validation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was evaluated only on the self-collected dataset. Performance on public benchmarks (CASIA-B, OULP) has not been tested.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Temporal Modeling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Frame-level classification only — stride rhythm, step frequency, and other dynamic gait cues are not explicitly captured.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📷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Viewpoint &amp; Environmental Sensitivity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Aerial perspective introduces scale variation, occlusion, and lighting changes that may affect silhouette extraction quality.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FF5F5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⚧️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Only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classifies only male vs. female. Multi-class demographics (age, identity) are not addressed in the current framework.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93268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11480" y="104241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4241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9692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Dataset with Public Benchmarks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5840" y="12070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on publicly available gait datasets (CASIA-B, OULP, TUM-GAID) to establish cross-dataset generalizability and robustness.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75564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11480" y="186537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653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⏱️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Sequence Modeling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005840" y="202996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LSTM, BiGRU, 3D CNN, or Transformer-based models to capture stride rhythm, step frequency, and temporal gait dynamics.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57860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1480" y="268833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🌍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05840" y="261518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Multi-View &amp; Cross-View Training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005840" y="285292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silhouettes from multiple drone angles to improve robustness to viewpoint variation in real-world aerial surveillance.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40156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351129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1129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Attention-Based Feature Refinement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1005840" y="367588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spatial attention mechanisms to focus on the most discriminative silhouette regions — improving classification in complex scenarios.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224528"/>
            <a:ext cx="8503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25400" dir="27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11480" y="4334256"/>
            <a:ext cx="475488" cy="475488"/>
          </a:xfrm>
          <a:prstGeom prst="roundRect">
            <a:avLst>
              <a:gd name="adj" fmla="val 13462"/>
            </a:avLst>
          </a:prstGeom>
          <a:solidFill>
            <a:srgbClr val="F0FFF4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33425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🌐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05840" y="42611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Demographic Analysis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05840" y="449884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binary gender — incorporate age estimation, identity recognition, and behavioral activity detection from silhouette gait.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21B4B"/>
          </a:solidFill>
          <a:ln w="12700">
            <a:solidFill>
              <a:srgbClr val="021B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M. Azhar et al., "A gait-based real-time gender classification system using whole body joints," Sensors, 2022.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320040" y="13533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S. Hou et al., "A comprehensive study on silhouette-based gait recognition," IEEE Trans. Biometrics, 2022.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17465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Bekhouch et al., "Few skeleton features for gait-based gender recognition," IEEE IPAS, 2025.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213969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K. Ahmed &amp; M. Saini, "FCML-gait: fog computing and ML for gait recognition," Signal, Image &amp; Video Processing, 2023.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25328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R. Baghezza et al., "Gait-based age, gender recognition using CNN-BGRU on thermal silhouettes," SSRN, 2022.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292608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J. Ahammed et al., "Human gait detection using silhouette image recognition," Turkish J. Comp. &amp; Math. Education, 2021.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09160" y="960120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R. Alguliyev et al., "Human gender classification and age estimation using deep learning," Multimedia Tools &amp; Applications, 2025.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09160" y="1353312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B. Kwon &amp; S. Lee, "Joint swing energy for skeleton-based gender classification," IEEE Access, 2021.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09160" y="1746504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M. Azhar et al., "Real-time dynamic multi-view gait-based gender classification," Electronics, 2022.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709160" y="2139696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O. Alsaif et al., "Using skeleton model to recognize human gait gender," IAES Int. J. AI, 2023.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09160" y="2532888"/>
            <a:ext cx="4251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C. Xu et al., "Real-time gait-based age estimation and gender classification," IEEE WACV, 2021.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20040" y="4681728"/>
            <a:ext cx="8503920" cy="274320"/>
          </a:xfrm>
          <a:prstGeom prst="roundRect">
            <a:avLst>
              <a:gd name="adj" fmla="val 20000"/>
            </a:avLst>
          </a:prstGeom>
          <a:solidFill>
            <a:srgbClr val="E8F4FF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6817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59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reference list available in the conference paper — PECCII 2026, PUST, Pabna, Bangladesh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286000" y="822960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9601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9784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  Novel silhouette-based pipeline: drone video → foreground segmentation → EfficientNet-B0 classification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6642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 97.14% test accuracy — outperforms CNN (90.74%), two-stream GEI (91.80%), and CNN-LSVM (94.50%)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65760" y="23317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500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 AUC = 0.994 for both Men and Women — near-perfect class discrimination confirmed by ROC analysis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365760" y="30175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0358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 Privacy-preserving design: no facial or clothing texture — only body shape and contour used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65760" y="37033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216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 EfficientNet-B0's compound scaling outperforms uniform CNN architectures on silhouette gait features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4389120"/>
            <a:ext cx="8412480" cy="576072"/>
          </a:xfrm>
          <a:prstGeom prst="roundRect">
            <a:avLst>
              <a:gd name="adj" fmla="val 12698"/>
            </a:avLst>
          </a:prstGeom>
          <a:solidFill>
            <a:srgbClr val="0D7BE5">
              <a:alpha val="22000"/>
            </a:srgbClr>
          </a:solidFill>
          <a:ln w="635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407408"/>
            <a:ext cx="8046720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 Future: expand to public benchmarks, temporal modeling, multi-view training, and attention refinement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468880" y="201168"/>
            <a:ext cx="822960" cy="713232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977640" y="201168"/>
            <a:ext cx="1188720" cy="713232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486400" y="201168"/>
            <a:ext cx="1280160" cy="713232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7" name="Shape 2"/>
          <p:cNvSpPr/>
          <p:nvPr/>
        </p:nvSpPr>
        <p:spPr>
          <a:xfrm>
            <a:off x="2286000" y="2029968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548640" y="21031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Deep Learning Approach to Silhouette-Based Gender Classification from Aerial Gait Videos</a:t>
            </a:r>
            <a:endParaRPr lang="en-US" sz="1250" dirty="0"/>
          </a:p>
        </p:txBody>
      </p:sp>
      <p:sp>
        <p:nvSpPr>
          <p:cNvPr id="9" name="Shape 4"/>
          <p:cNvSpPr/>
          <p:nvPr/>
        </p:nvSpPr>
        <p:spPr>
          <a:xfrm>
            <a:off x="2011680" y="2724912"/>
            <a:ext cx="5120640" cy="1508760"/>
          </a:xfrm>
          <a:prstGeom prst="roundRect">
            <a:avLst>
              <a:gd name="adj" fmla="val 7273"/>
            </a:avLst>
          </a:prstGeom>
          <a:solidFill>
            <a:srgbClr val="0D7BE5">
              <a:alpha val="25000"/>
            </a:srgbClr>
          </a:solidFill>
          <a:ln w="19050">
            <a:solidFill>
              <a:srgbClr val="00C4B4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2148840" y="2798064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Presenter</a:t>
            </a:r>
            <a:endParaRPr lang="en-US" sz="1000" dirty="0"/>
          </a:p>
        </p:txBody>
      </p:sp>
      <p:sp>
        <p:nvSpPr>
          <p:cNvPr id="11" name="Text 6"/>
          <p:cNvSpPr/>
          <p:nvPr/>
        </p:nvSpPr>
        <p:spPr>
          <a:xfrm>
            <a:off x="2148840" y="3035808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Md. Abdullah Al Mahim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2148840" y="3429000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Dept. of CSE, Pabna University of Science and Technology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2148840" y="37124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mahim.cse0@gmail.com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457200" y="46817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PECCII 2026  •  17–18 June 2026  •  PUST, Pabna, Bangladesh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2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 Questions?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2286000" y="1993392"/>
            <a:ext cx="4572000" cy="36576"/>
          </a:xfrm>
          <a:prstGeom prst="rect">
            <a:avLst/>
          </a:prstGeom>
          <a:solidFill>
            <a:srgbClr val="00C4B4"/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8872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97.14%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8872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6616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0.994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56616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Score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212848"/>
            <a:ext cx="1920240" cy="1051560"/>
          </a:xfrm>
          <a:prstGeom prst="roundRect">
            <a:avLst>
              <a:gd name="adj" fmla="val 8696"/>
            </a:avLst>
          </a:prstGeom>
          <a:solidFill>
            <a:srgbClr val="0D7BE5">
              <a:alpha val="30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0" y="2258568"/>
            <a:ext cx="19202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6,760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943600" y="27614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Size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42900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Feel free to ask about the methodology, dataset, model architecture, or results!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011680" y="3950208"/>
            <a:ext cx="5120640" cy="731520"/>
          </a:xfrm>
          <a:prstGeom prst="roundRect">
            <a:avLst>
              <a:gd name="adj" fmla="val 12500"/>
            </a:avLst>
          </a:prstGeom>
          <a:solidFill>
            <a:srgbClr val="0D7BE5">
              <a:alpha val="25000"/>
            </a:srgbClr>
          </a:solidFill>
          <a:ln w="12700">
            <a:solidFill>
              <a:srgbClr val="00C4B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03120" y="3950208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Md. Abdullah Al Mahim   |   mahim.cse0@gmail.com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D7BE5"/>
          </a:solidFill>
          <a:ln w="12700">
            <a:solidFill>
              <a:srgbClr val="0D7BE5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2026-06-10T10:43:01Z</dcterms:created>
  <dcterms:modified xsi:type="dcterms:W3CDTF">2026-06-10T10:43:01Z</dcterms:modified>
</cp:coreProperties>
</file>