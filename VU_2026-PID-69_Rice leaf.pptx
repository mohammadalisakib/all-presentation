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76" r:id="rId4"/>
    <p:sldId id="258" r:id="rId5"/>
    <p:sldId id="259" r:id="rId6"/>
    <p:sldId id="278" r:id="rId7"/>
    <p:sldId id="277" r:id="rId8"/>
    <p:sldId id="260" r:id="rId9"/>
    <p:sldId id="267" r:id="rId10"/>
    <p:sldId id="279" r:id="rId11"/>
    <p:sldId id="269" r:id="rId12"/>
    <p:sldId id="271" r:id="rId13"/>
    <p:sldId id="280" r:id="rId14"/>
    <p:sldId id="272" r:id="rId15"/>
    <p:sldId id="273" r:id="rId16"/>
    <p:sldId id="274" r:id="rId17"/>
    <p:sldId id="264" r:id="rId18"/>
    <p:sldId id="265" r:id="rId19"/>
  </p:sldIdLst>
  <p:sldSz cx="18288000" cy="10287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ITC Edwardian Script" panose="020B0604020202020204" charset="0"/>
      <p:regular r:id="rId25"/>
    </p:embeddedFont>
    <p:embeddedFont>
      <p:font typeface="Times New Roman Bold" panose="02020803070505020304" pitchFamily="18" charset="0"/>
      <p:bold r:id="rId26"/>
    </p:embeddedFont>
    <p:embeddedFont>
      <p:font typeface="Roboto Condensed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1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43019-CDCE-4791-9A73-2DF729D6849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8BCFA-9760-4AD4-923B-7173336A0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7161202"/>
            <a:ext cx="18218013" cy="3163898"/>
            <a:chOff x="0" y="0"/>
            <a:chExt cx="812800" cy="1411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1158"/>
            </a:xfrm>
            <a:custGeom>
              <a:avLst/>
              <a:gdLst/>
              <a:ahLst/>
              <a:cxnLst/>
              <a:rect l="l" t="t" r="r" b="b"/>
              <a:pathLst>
                <a:path w="812800" h="141158">
                  <a:moveTo>
                    <a:pt x="812800" y="0"/>
                  </a:moveTo>
                  <a:lnTo>
                    <a:pt x="0" y="0"/>
                  </a:lnTo>
                  <a:lnTo>
                    <a:pt x="101600" y="70579"/>
                  </a:lnTo>
                  <a:lnTo>
                    <a:pt x="0" y="141158"/>
                  </a:lnTo>
                  <a:lnTo>
                    <a:pt x="812800" y="141158"/>
                  </a:lnTo>
                  <a:lnTo>
                    <a:pt x="711200" y="70579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4F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88900" y="-47625"/>
              <a:ext cx="635000" cy="188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7250764"/>
            <a:ext cx="1891731" cy="2104847"/>
          </a:xfrm>
          <a:custGeom>
            <a:avLst/>
            <a:gdLst/>
            <a:ahLst/>
            <a:cxnLst/>
            <a:rect l="l" t="t" r="r" b="b"/>
            <a:pathLst>
              <a:path w="1891731" h="2104847">
                <a:moveTo>
                  <a:pt x="0" y="0"/>
                </a:moveTo>
                <a:lnTo>
                  <a:pt x="1891731" y="0"/>
                </a:lnTo>
                <a:lnTo>
                  <a:pt x="1891731" y="2104847"/>
                </a:lnTo>
                <a:lnTo>
                  <a:pt x="0" y="210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17954" y="2573071"/>
            <a:ext cx="15852091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95" dirty="0" smtClean="0">
                <a:solidFill>
                  <a:srgbClr val="00B0F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2nd </a:t>
            </a:r>
            <a:r>
              <a:rPr lang="en-US" sz="4000" b="1" dirty="0">
                <a:solidFill>
                  <a:srgbClr val="00B0F0"/>
                </a:solidFill>
              </a:rPr>
              <a:t>Undergraduate Conference on Intelligent Computing and Systems (UCICS 2026)</a:t>
            </a:r>
          </a:p>
          <a:p>
            <a:pPr algn="ctr">
              <a:lnSpc>
                <a:spcPts val="5599"/>
              </a:lnSpc>
            </a:pPr>
            <a:endParaRPr lang="en-US" sz="3999" b="1" spc="95" dirty="0" smtClean="0">
              <a:solidFill>
                <a:srgbClr val="00629B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b="1" spc="95" dirty="0">
              <a:solidFill>
                <a:srgbClr val="00629B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95800" y="4136846"/>
            <a:ext cx="917912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47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rPr>
              <a:t>HOSTED BY: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Varendra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University, Rajshahi, Bangladesh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799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17-18 January, 2026</a:t>
            </a:r>
          </a:p>
          <a:p>
            <a:pPr algn="ctr">
              <a:lnSpc>
                <a:spcPts val="2799"/>
              </a:lnSpc>
            </a:pPr>
            <a:endParaRPr lang="en-US" sz="1999" b="1" spc="47" dirty="0" smtClean="0">
              <a:solidFill>
                <a:srgbClr val="000000"/>
              </a:solidFill>
              <a:latin typeface="Times New Roman" panose="02020603050405020304" pitchFamily="18" charset="0"/>
              <a:ea typeface="Roboto Condensed Bold"/>
              <a:cs typeface="Times New Roman" panose="02020603050405020304" pitchFamily="18" charset="0"/>
              <a:sym typeface="Roboto Condense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8783" y="4981397"/>
            <a:ext cx="2555677" cy="226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5"/>
              </a:lnSpc>
            </a:pPr>
            <a:r>
              <a:rPr lang="en-US" sz="3399" b="1" spc="8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ID:</a:t>
            </a:r>
          </a:p>
          <a:p>
            <a:pPr algn="l">
              <a:lnSpc>
                <a:spcPts val="6085"/>
              </a:lnSpc>
            </a:pPr>
            <a:r>
              <a:rPr lang="en-US" sz="3399" b="1" spc="8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Title : </a:t>
            </a:r>
          </a:p>
          <a:p>
            <a:pPr algn="l">
              <a:lnSpc>
                <a:spcPts val="6085"/>
              </a:lnSpc>
            </a:pPr>
            <a:endParaRPr lang="en-US" sz="3399" b="1" spc="8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056007" y="5105222"/>
            <a:ext cx="357339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b="1" spc="8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069</a:t>
            </a:r>
            <a:endParaRPr lang="en-US" sz="3399" b="1" spc="8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349689" y="5887798"/>
            <a:ext cx="14328711" cy="1197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600" dirty="0"/>
              <a:t>Rice Leaf Disease Detection Using Vision Transformer and Transfer Learning-Based Architectures</a:t>
            </a:r>
            <a:endParaRPr lang="en-US" sz="3399" b="1" spc="81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983982" y="7355539"/>
            <a:ext cx="8572500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Mohammad Ali </a:t>
            </a:r>
            <a:r>
              <a:rPr lang="en-US" sz="2499" b="1" spc="59" dirty="0" err="1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Sakib</a:t>
            </a: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Department of </a:t>
            </a: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CSE</a:t>
            </a: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3499"/>
              </a:lnSpc>
            </a:pP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Pabna </a:t>
            </a: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University of </a:t>
            </a: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Science </a:t>
            </a: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and Technology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Pabna, </a:t>
            </a: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Bangladesh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pic>
        <p:nvPicPr>
          <p:cNvPr id="1026" name="Picture 2" descr="UCICS25 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6098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arendra University 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7800" y="203902"/>
            <a:ext cx="1343025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057400" cy="119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42296" y="2400300"/>
            <a:ext cx="30677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00B050"/>
                </a:solidFill>
                <a:latin typeface="quote-cjk-patch"/>
              </a:rPr>
              <a:t>Outlines :</a:t>
            </a:r>
          </a:p>
          <a:p>
            <a:endParaRPr lang="en-US" sz="3600" b="1" dirty="0">
              <a:solidFill>
                <a:srgbClr val="00B050"/>
              </a:solidFill>
              <a:effectLst/>
              <a:latin typeface="quote-cjk-patch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117125" y="3098542"/>
            <a:ext cx="839847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 smtClean="0">
                <a:latin typeface="Arial" panose="020B0604020202020204" pitchFamily="34" charset="0"/>
              </a:rPr>
              <a:t>Motivation and problem statement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 smtClean="0">
                <a:latin typeface="Arial" panose="020B0604020202020204" pitchFamily="34" charset="0"/>
              </a:rPr>
              <a:t>Proposed Idea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90038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057400" cy="119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162800" y="859723"/>
            <a:ext cx="30677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00B050"/>
                </a:solidFill>
                <a:latin typeface="quote-cjk-patch"/>
              </a:rPr>
              <a:t>Introduction</a:t>
            </a:r>
          </a:p>
          <a:p>
            <a:endParaRPr lang="en-US" sz="3600" b="1" dirty="0">
              <a:solidFill>
                <a:srgbClr val="00B050"/>
              </a:solidFill>
              <a:effectLst/>
              <a:latin typeface="quote-cjk-patch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 flipV="1">
            <a:off x="3124200" y="7353299"/>
            <a:ext cx="4471048" cy="7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084522" y="3624143"/>
            <a:ext cx="973587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Rice is a major food crop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Rice leaf diseases reduce crop yield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 mostly depend on manual checking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checking is slow and inaccurate</a:t>
            </a:r>
          </a:p>
        </p:txBody>
      </p:sp>
    </p:spTree>
    <p:extLst>
      <p:ext uri="{BB962C8B-B14F-4D97-AF65-F5344CB8AC3E}">
        <p14:creationId xmlns:p14="http://schemas.microsoft.com/office/powerpoint/2010/main" val="422675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7935" y="2075009"/>
            <a:ext cx="1069092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4000" b="1" dirty="0" smtClean="0"/>
              <a:t>Motivation </a:t>
            </a:r>
            <a:r>
              <a:rPr lang="en-US" sz="4000" b="1" dirty="0"/>
              <a:t>&amp; Problem </a:t>
            </a:r>
            <a:r>
              <a:rPr lang="en-US" sz="4000" b="1" dirty="0" smtClean="0"/>
              <a:t>Statement</a:t>
            </a:r>
            <a:endParaRPr lang="en-US" sz="3999" b="1" spc="95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2000" y="2800171"/>
            <a:ext cx="457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do this?</a:t>
            </a:r>
          </a:p>
          <a:p>
            <a:endParaRPr lang="en-US" sz="36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3996" y="2857500"/>
            <a:ext cx="5638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challenges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0" y="5981701"/>
            <a:ext cx="312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057400" cy="119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058680" y="3606105"/>
            <a:ext cx="7391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Rice leaf diseases reduce crop yield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disease checking is slow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 cannot monitor large fields easily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296400" y="3695700"/>
            <a:ext cx="80772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Disease symptoms look very similar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have different lighting and backgrounds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models miss global disease patterns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867400" y="6743700"/>
            <a:ext cx="82296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Vision Transformer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both local and global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fast and accurate disease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48200" y="851603"/>
            <a:ext cx="1069092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95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RELATED WORK / LITERATURE REVIEW</a:t>
            </a:r>
          </a:p>
        </p:txBody>
      </p:sp>
      <p:pic>
        <p:nvPicPr>
          <p:cNvPr id="20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1714500"/>
            <a:ext cx="8258540" cy="81466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00200" y="4130576"/>
            <a:ext cx="716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Research Gap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CNN models focus on small local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They miss global disease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Transformer models are rarely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Need a more accurate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0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14400" y="3467100"/>
            <a:ext cx="9144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Proposed Idea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Use Vision Transformer (</a:t>
            </a:r>
            <a:r>
              <a:rPr lang="en-US" sz="3200" dirty="0" err="1"/>
              <a:t>ViT</a:t>
            </a:r>
            <a:r>
              <a:rPr lang="en-US" sz="32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Compare with MobileNetV3 and ResNet50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Learn both local and global features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Improve disease classification accuracy</a:t>
            </a:r>
          </a:p>
        </p:txBody>
      </p:sp>
    </p:spTree>
    <p:extLst>
      <p:ext uri="{BB962C8B-B14F-4D97-AF65-F5344CB8AC3E}">
        <p14:creationId xmlns:p14="http://schemas.microsoft.com/office/powerpoint/2010/main" val="306814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066800" y="2933700"/>
            <a:ext cx="9144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Collect rice leaf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Preprocess and augment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Split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Train and test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Compare performance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562100"/>
            <a:ext cx="6019800" cy="804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3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8" name="Rectangle 17"/>
          <p:cNvSpPr/>
          <p:nvPr/>
        </p:nvSpPr>
        <p:spPr>
          <a:xfrm>
            <a:off x="457200" y="2905661"/>
            <a:ext cx="4343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Dataset </a:t>
            </a:r>
            <a:r>
              <a:rPr lang="en-US" sz="4000" b="1" dirty="0" smtClean="0">
                <a:solidFill>
                  <a:srgbClr val="00B050"/>
                </a:solidFill>
              </a:rPr>
              <a:t>Overview :</a:t>
            </a:r>
          </a:p>
          <a:p>
            <a:endParaRPr lang="en-US" sz="4000" b="1" dirty="0">
              <a:solidFill>
                <a:srgbClr val="00B050"/>
              </a:solidFill>
            </a:endParaRPr>
          </a:p>
        </p:txBody>
      </p: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371600" y="3766983"/>
            <a:ext cx="5943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collected from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images: 18,450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rice leaf classes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image variations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26355"/>
            <a:ext cx="8991600" cy="89932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371600" y="2781300"/>
            <a:ext cx="4800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: </a:t>
            </a:r>
          </a:p>
          <a:p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276600" y="3453585"/>
            <a:ext cx="66294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Resize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 pixel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data augmentation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35753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257300" y="2545844"/>
            <a:ext cx="480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Dataset </a:t>
            </a:r>
            <a:r>
              <a:rPr lang="en-US" sz="3600" b="1" dirty="0" smtClean="0">
                <a:solidFill>
                  <a:srgbClr val="00B050"/>
                </a:solidFill>
              </a:rPr>
              <a:t>Split 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060912" y="3443500"/>
            <a:ext cx="457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Training: 70%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 15%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 distribution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943100"/>
            <a:ext cx="9448800" cy="52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2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172200" y="122591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: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" y="3238500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lang="en-US" sz="36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0" y="3226633"/>
            <a:ext cx="52687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Why </a:t>
            </a:r>
            <a:r>
              <a:rPr lang="en-US" sz="3200" b="1" dirty="0" smtClean="0">
                <a:solidFill>
                  <a:srgbClr val="00B0F0"/>
                </a:solidFill>
              </a:rPr>
              <a:t>Vision Transformer(</a:t>
            </a:r>
            <a:r>
              <a:rPr lang="en-US" sz="3200" b="1" dirty="0" err="1" smtClean="0">
                <a:solidFill>
                  <a:srgbClr val="00B0F0"/>
                </a:solidFill>
              </a:rPr>
              <a:t>ViT</a:t>
            </a:r>
            <a:r>
              <a:rPr lang="en-US" sz="3200" b="1" dirty="0" smtClean="0">
                <a:solidFill>
                  <a:srgbClr val="00B0F0"/>
                </a:solidFill>
              </a:rPr>
              <a:t>)?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279785" y="3888459"/>
            <a:ext cx="4953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MobileNetV3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9111945" y="3884831"/>
            <a:ext cx="58674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divided into small patches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attention mechanism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global image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Pre-trained on ImageNet</a:t>
            </a:r>
          </a:p>
        </p:txBody>
      </p:sp>
    </p:spTree>
    <p:extLst>
      <p:ext uri="{BB962C8B-B14F-4D97-AF65-F5344CB8AC3E}">
        <p14:creationId xmlns:p14="http://schemas.microsoft.com/office/powerpoint/2010/main" val="58648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6617507" y="1110741"/>
            <a:ext cx="50529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Performance Comparison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32" y="2171700"/>
            <a:ext cx="16782336" cy="791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2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550681" y="1110741"/>
            <a:ext cx="41079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00B050"/>
                </a:solidFill>
              </a:rPr>
              <a:t>Classification Report</a:t>
            </a:r>
            <a:endParaRPr lang="en-US" sz="3600" b="1" dirty="0">
              <a:solidFill>
                <a:srgbClr val="00B05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247900"/>
            <a:ext cx="11761298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1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381000" y="2247900"/>
            <a:ext cx="26682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ROC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8343900"/>
            <a:ext cx="5181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Key </a:t>
            </a:r>
            <a:r>
              <a:rPr lang="en-US" sz="3200" b="1" dirty="0" smtClean="0">
                <a:solidFill>
                  <a:srgbClr val="00B050"/>
                </a:solidFill>
              </a:rPr>
              <a:t>Observation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32132" y="647700"/>
            <a:ext cx="5165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Confusion Matrix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87000" y="7896880"/>
            <a:ext cx="3276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</a:rPr>
              <a:t>Observations</a:t>
            </a:r>
            <a:endParaRPr lang="en-US" sz="3200" b="1" dirty="0">
              <a:solidFill>
                <a:srgbClr val="00B05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94" y="2781300"/>
            <a:ext cx="6829506" cy="5560184"/>
          </a:xfrm>
          <a:prstGeom prst="rect">
            <a:avLst/>
          </a:prstGeom>
        </p:spPr>
      </p:pic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1138844" y="8874884"/>
            <a:ext cx="506600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best AUC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high class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separability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325" y="1181100"/>
            <a:ext cx="6886682" cy="6823790"/>
          </a:xfrm>
          <a:prstGeom prst="rect">
            <a:avLst/>
          </a:prstGeom>
        </p:spPr>
      </p:pic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0858500" y="8482905"/>
            <a:ext cx="54102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predictions are correct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few misclassifications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class separation</a:t>
            </a:r>
          </a:p>
        </p:txBody>
      </p:sp>
    </p:spTree>
    <p:extLst>
      <p:ext uri="{BB962C8B-B14F-4D97-AF65-F5344CB8AC3E}">
        <p14:creationId xmlns:p14="http://schemas.microsoft.com/office/powerpoint/2010/main" val="133445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-324366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075773" y="1110741"/>
            <a:ext cx="41364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Accuracy &amp; Loss Curves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0" y="7672411"/>
            <a:ext cx="541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Accuracy &amp; Loss </a:t>
            </a:r>
            <a:r>
              <a:rPr lang="en-US" sz="2800" b="1" dirty="0" smtClean="0">
                <a:solidFill>
                  <a:srgbClr val="00B050"/>
                </a:solidFill>
              </a:rPr>
              <a:t>Curves</a:t>
            </a:r>
            <a:endParaRPr lang="en-US" sz="2800" b="1" dirty="0">
              <a:solidFill>
                <a:srgbClr val="00B05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45" y="2705100"/>
            <a:ext cx="7653155" cy="496731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5229" y="2705100"/>
            <a:ext cx="7280671" cy="4141894"/>
          </a:xfrm>
          <a:prstGeom prst="rect">
            <a:avLst/>
          </a:prstGeom>
        </p:spPr>
      </p:pic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3134193" y="8496300"/>
            <a:ext cx="532400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training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validation accuracy</a:t>
            </a: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9753600" y="8312685"/>
            <a:ext cx="4876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decreases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training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serious overfitting</a:t>
            </a:r>
          </a:p>
        </p:txBody>
      </p:sp>
    </p:spTree>
    <p:extLst>
      <p:ext uri="{BB962C8B-B14F-4D97-AF65-F5344CB8AC3E}">
        <p14:creationId xmlns:p14="http://schemas.microsoft.com/office/powerpoint/2010/main" val="13041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82605" y="3314700"/>
            <a:ext cx="47799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Current </a:t>
            </a:r>
            <a:r>
              <a:rPr lang="en-US" sz="3200" b="1" dirty="0" smtClean="0">
                <a:solidFill>
                  <a:srgbClr val="00B0F0"/>
                </a:solidFill>
              </a:rPr>
              <a:t>Limitations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58200" y="3287843"/>
            <a:ext cx="3123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Future Directions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752600" y="4139505"/>
            <a:ext cx="50292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RGB images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field testing not done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delay not tested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9448800" y="4089618"/>
            <a:ext cx="51054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drone and edge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explainable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on other crops</a:t>
            </a:r>
          </a:p>
        </p:txBody>
      </p:sp>
    </p:spTree>
    <p:extLst>
      <p:ext uri="{BB962C8B-B14F-4D97-AF65-F5344CB8AC3E}">
        <p14:creationId xmlns:p14="http://schemas.microsoft.com/office/powerpoint/2010/main" val="108100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4610" y="2551086"/>
            <a:ext cx="1069092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95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REFERENCE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4610" y="3382936"/>
            <a:ext cx="16319902" cy="628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7074" lvl="1" indent="-4572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[1] C. K. </a:t>
            </a:r>
            <a:r>
              <a:rPr lang="en-US" sz="2800" dirty="0" err="1"/>
              <a:t>Jha</a:t>
            </a:r>
            <a:r>
              <a:rPr lang="en-US" sz="2800" dirty="0"/>
              <a:t>, ”Rice Plant Diseases Classification using a New Convolutional Neural Network based Approach,” 2024 First International Conference on Electronics, Communication and Signal Processing (ICECSP), New Delhi, India, 2024, pp. 1-4, </a:t>
            </a:r>
            <a:r>
              <a:rPr lang="en-US" sz="2800" dirty="0" err="1"/>
              <a:t>doi</a:t>
            </a:r>
            <a:r>
              <a:rPr lang="en-US" sz="2800" dirty="0"/>
              <a:t>: 10.1109/ICECSP61809.2024.10698072. </a:t>
            </a:r>
            <a:endParaRPr lang="en-US" sz="2800" dirty="0" smtClean="0"/>
          </a:p>
          <a:p>
            <a:pPr marL="727074" lvl="1" indent="-4572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[</a:t>
            </a:r>
            <a:r>
              <a:rPr lang="en-US" sz="2800" dirty="0"/>
              <a:t>2] </a:t>
            </a:r>
            <a:r>
              <a:rPr lang="en-US" sz="2800" dirty="0" err="1"/>
              <a:t>Kamilaris</a:t>
            </a:r>
            <a:r>
              <a:rPr lang="en-US" sz="2800" dirty="0"/>
              <a:t>, Andreas, and </a:t>
            </a:r>
            <a:r>
              <a:rPr lang="en-US" sz="2800" dirty="0" err="1"/>
              <a:t>Francesc</a:t>
            </a:r>
            <a:r>
              <a:rPr lang="en-US" sz="2800" dirty="0"/>
              <a:t> X. </a:t>
            </a:r>
            <a:r>
              <a:rPr lang="en-US" sz="2800" dirty="0" err="1"/>
              <a:t>Prenafeta-Bold´u</a:t>
            </a:r>
            <a:r>
              <a:rPr lang="en-US" sz="2800" dirty="0"/>
              <a:t>. ”Deep learning in agriculture: A survey.” Computers and electronics in agriculture 147 (2018): 70-90</a:t>
            </a:r>
            <a:r>
              <a:rPr lang="en-US" sz="2800" dirty="0" smtClean="0"/>
              <a:t>.</a:t>
            </a:r>
          </a:p>
          <a:p>
            <a:pPr marL="727074" lvl="1" indent="-4572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[3] Y. Zhou, Z. </a:t>
            </a:r>
            <a:r>
              <a:rPr lang="en-US" sz="2800" dirty="0" err="1"/>
              <a:t>Qiu</a:t>
            </a:r>
            <a:r>
              <a:rPr lang="en-US" sz="2800" dirty="0"/>
              <a:t>, H. Xiang, J. Tao, X. Wang and C. Liang, ”Large-Scale Vision Transformer Model for Image Recognition in Power System,” 2024 20th International Conference on Natural Computation, Fuzzy Systems and Knowledge Discovery (ICNC-FSKD), Guangzhou, China, 2024, pp. 1-5, </a:t>
            </a:r>
            <a:r>
              <a:rPr lang="en-US" sz="2800" dirty="0" err="1"/>
              <a:t>doi</a:t>
            </a:r>
            <a:r>
              <a:rPr lang="en-US" sz="2800" dirty="0"/>
              <a:t>: 10.1109/ICNC-FSKD64080.2024.10702250</a:t>
            </a:r>
            <a:r>
              <a:rPr lang="en-US" sz="2800" dirty="0" smtClean="0"/>
              <a:t>.</a:t>
            </a:r>
          </a:p>
          <a:p>
            <a:pPr marL="727074" lvl="1" indent="-4572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[4] </a:t>
            </a:r>
            <a:r>
              <a:rPr lang="en-US" sz="2800" dirty="0" err="1"/>
              <a:t>Touvron</a:t>
            </a:r>
            <a:r>
              <a:rPr lang="en-US" sz="2800" dirty="0"/>
              <a:t>, H., Cord, M., </a:t>
            </a:r>
            <a:r>
              <a:rPr lang="en-US" sz="2800" dirty="0" err="1"/>
              <a:t>Douze</a:t>
            </a:r>
            <a:r>
              <a:rPr lang="en-US" sz="2800" dirty="0"/>
              <a:t>, M., Massa, F., </a:t>
            </a:r>
            <a:r>
              <a:rPr lang="en-US" sz="2800" dirty="0" err="1"/>
              <a:t>Sablayrolles</a:t>
            </a:r>
            <a:r>
              <a:rPr lang="en-US" sz="2800" dirty="0"/>
              <a:t>, A., </a:t>
            </a:r>
            <a:r>
              <a:rPr lang="en-US" sz="2800" dirty="0" err="1"/>
              <a:t>J´egou</a:t>
            </a:r>
            <a:r>
              <a:rPr lang="en-US" sz="2800" dirty="0"/>
              <a:t>, H. (2021, July). Training data-efficient image transformers distillation through attention. In International conference on machine learning (pp. 10347-10357). PMLR. </a:t>
            </a:r>
            <a:endParaRPr lang="en-US" sz="2800" dirty="0" smtClean="0"/>
          </a:p>
          <a:p>
            <a:pPr marL="727074" lvl="1" indent="-4572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[</a:t>
            </a:r>
            <a:r>
              <a:rPr lang="en-US" sz="2800" dirty="0"/>
              <a:t>5] Yang, L.; Yu, X.; Zhang, S.; Long, H.; Zhang, H.; Xu, S.; Liao, Y. </a:t>
            </a:r>
            <a:r>
              <a:rPr lang="en-US" sz="2800" dirty="0" err="1"/>
              <a:t>GoogLeNet</a:t>
            </a:r>
            <a:r>
              <a:rPr lang="en-US" sz="2800" dirty="0"/>
              <a:t> based on residual network and attention mechanism identification of rice leaf diseases. </a:t>
            </a:r>
            <a:r>
              <a:rPr lang="en-US" sz="2800" dirty="0" err="1"/>
              <a:t>Comput</a:t>
            </a:r>
            <a:r>
              <a:rPr lang="en-US" sz="2800" dirty="0"/>
              <a:t>. Electron. Agric. 2023, 204, 107543. </a:t>
            </a:r>
            <a:endParaRPr lang="en-US" sz="2499" spc="5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17935" y="4087813"/>
            <a:ext cx="16641365" cy="18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 spc="264" dirty="0">
                <a:solidFill>
                  <a:srgbClr val="167B45"/>
                </a:solidFill>
                <a:latin typeface="ITC Edwardian Script"/>
                <a:ea typeface="ITC Edwardian Script"/>
                <a:cs typeface="ITC Edwardian Script"/>
                <a:sym typeface="ITC Edwardian Script"/>
              </a:rPr>
              <a:t>Thank You!</a:t>
            </a:r>
          </a:p>
        </p:txBody>
      </p:sp>
      <p:pic>
        <p:nvPicPr>
          <p:cNvPr id="17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676</Words>
  <Application>Microsoft Office PowerPoint</Application>
  <PresentationFormat>Custom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Wingdings</vt:lpstr>
      <vt:lpstr>Aptos</vt:lpstr>
      <vt:lpstr>quote-cjk-patch</vt:lpstr>
      <vt:lpstr>Calibri</vt:lpstr>
      <vt:lpstr>ITC Edwardian Script</vt:lpstr>
      <vt:lpstr>Courier New</vt:lpstr>
      <vt:lpstr>Times New Roman Bold</vt:lpstr>
      <vt:lpstr>Roboto Condensed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Compas_2025</dc:title>
  <dc:creator>Ali</dc:creator>
  <cp:lastModifiedBy>Ali</cp:lastModifiedBy>
  <cp:revision>27</cp:revision>
  <dcterms:created xsi:type="dcterms:W3CDTF">2006-08-16T00:00:00Z</dcterms:created>
  <dcterms:modified xsi:type="dcterms:W3CDTF">2026-01-18T03:34:01Z</dcterms:modified>
  <dc:identifier>DAG17Vso9ds</dc:identifier>
</cp:coreProperties>
</file>